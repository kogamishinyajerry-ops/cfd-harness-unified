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新增 corrections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04-12</c:v>
                  </c:pt>
                  <c:pt idx="1">
                    <c:v>04-13</c:v>
                  </c:pt>
                  <c:pt idx="2">
                    <c:v>04-14</c:v>
                  </c:pt>
                  <c:pt idx="3">
                    <c:v>04-15</c:v>
                  </c:pt>
                  <c:pt idx="4">
                    <c:v>04-16</c:v>
                  </c:pt>
                  <c:pt idx="5">
                    <c:v>04-17</c:v>
                  </c:pt>
                  <c:pt idx="6">
                    <c:v>04-18</c:v>
                  </c:pt>
                  <c:pt idx="7">
                    <c:v>04-20</c:v>
                  </c:pt>
                  <c:pt idx="8">
                    <c:v>04-21</c:v>
                  </c:pt>
                  <c:pt idx="9">
                    <c:v>04-23</c:v>
                  </c:pt>
                  <c:pt idx="10">
                    <c:v>04-24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11</c:v>
                </c:pt>
                <c:pt idx="2">
                  <c:v>22</c:v>
                </c:pt>
                <c:pt idx="3">
                  <c:v>38</c:v>
                </c:pt>
                <c:pt idx="4">
                  <c:v>12</c:v>
                </c:pt>
                <c:pt idx="5">
                  <c:v>36</c:v>
                </c:pt>
                <c:pt idx="6">
                  <c:v>4</c:v>
                </c:pt>
                <c:pt idx="7">
                  <c:v>4</c:v>
                </c:pt>
                <c:pt idx="8">
                  <c:v>27</c:v>
                </c:pt>
                <c:pt idx="9">
                  <c:v>6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B8860B"/>
              </a:solidFill>
              <a:effectLst/>
            </c:spPr>
          </c:dPt>
          <c:dPt>
            <c:idx val="2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bubble3D val="0"/>
            <c:spPr>
              <a:solidFill>
                <a:srgbClr val="0F766E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QUANTITY_DEVIATION (111)</c:v>
                </c:pt>
                <c:pt idx="1">
                  <c:v>COMPARATOR_SCHEMA (27)</c:v>
                </c:pt>
                <c:pt idx="2">
                  <c:v>PARAMETER_PLUMBING (14)</c:v>
                </c:pt>
                <c:pt idx="3">
                  <c:v>GEOMETRY_MODEL (11)</c:v>
                </c:pt>
                <c:pt idx="4">
                  <c:v>INSUFFICIENT_TRANSIENT (2)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111</c:v>
                </c:pt>
                <c:pt idx="1">
                  <c:v>27</c:v>
                </c:pt>
                <c:pt idx="2">
                  <c:v>14</c:v>
                </c:pt>
                <c:pt idx="3">
                  <c:v>11</c:v>
                </c:pt>
                <c:pt idx="4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164592" cy="14630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 KICKOFF  ·  v2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cfd-harness-unified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合规优先的 AI-CFD 工作台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Audit-First AI-CFD Workbench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886200"/>
            <a:ext cx="54864" cy="13716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8862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已跑过 165 次试错</a:t>
            </a:r>
            <a:pPr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 PASS</a:t>
            </a:r>
            <a:pPr indent="0" marL="0">
              <a:buNone/>
            </a:pPr>
            <a:r>
              <a:rPr lang="en-US" sz="140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 份验收报告</a:t>
            </a:r>
            <a:endParaRPr lang="en-US" sz="14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本汇报全部数据均可在仓库 git history 现场复核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6263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汇报对象：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公司决策层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申请：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 · 资源配置  ·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548640"/>
            <a:ext cx="3931920" cy="57607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11" name="Text 9"/>
          <p:cNvSpPr/>
          <p:nvPr/>
        </p:nvSpPr>
        <p:spPr>
          <a:xfrm>
            <a:off x="8092440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FROM REPO  ·  Lid-Driven Cavity Re=100</a:t>
            </a:r>
            <a:endParaRPr lang="en-US" sz="900" dirty="0"/>
          </a:p>
        </p:txBody>
      </p:sp>
      <p:pic>
        <p:nvPicPr>
          <p:cNvPr id="12" name="Image 0" descr="/sessions/dreamy-clever-ritchie/mnt/outputs/img/ldc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051560"/>
            <a:ext cx="3657600" cy="2468880"/>
          </a:xfrm>
          <a:prstGeom prst="rect">
            <a:avLst/>
          </a:prstGeom>
        </p:spPr>
      </p:pic>
      <p:pic>
        <p:nvPicPr>
          <p:cNvPr id="13" name="Image 1" descr="/sessions/dreamy-clever-ritchie/mnt/outputs/img/ldc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611880"/>
            <a:ext cx="3657600" cy="2468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6080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OpenFOAM simpleFoam · 真实求解器输出 · 与 Ghia 1982 文献基准对齐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执行摘要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一页讲清楚：项目已落地, 不是 PPT 项目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 · This Is Already Working Software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4884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73152" cy="19659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我们在做什么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V&amp;V (验证与确认) 从 "事后写文档" 变成 "事前合约"。每次 CFD 仿真自动产出一份监管级别的、可签名的审计包：测量值 ↔ 黄金标准 ↔ 容差 ↔ 文献引用 ↔ 代码版本 ↔ 决策链 一站式打包。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214884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148840"/>
            <a:ext cx="73152" cy="19659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313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6520" y="306324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V&amp;V40 (2023 终稿) → ASME V&amp;V 40 → DO-178C ML 附录 陆续生效。监管要求从 "理论" 转向 "强制"。整个 AI-CFD 赛道在卷 "更快"，没人在 "可信" 这条线上。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297680"/>
            <a:ext cx="73152" cy="1965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PROOF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已交付了什么 (硬证据)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521208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个文献基准案例端到端 PASS · 165 条试错记录沉淀进知识库 · 233 份审计验收报告 · 196 条决策落账 · 145 份 Codex 代码审查 · 工作台 /learn + /pro 双 UI 已可在线演示。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297680"/>
            <a:ext cx="544068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4297680"/>
            <a:ext cx="73152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44622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475488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立项请求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46520" y="521208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把项目从内部研究升格为正式产品 · 12 个月预算 ¥320–440 万 · 配 2 全职工程师 + 0.4 法规顾问 + 1 BD · Q1 验收：第 1 位 named compliance officer Pilot 启动。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457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28600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8600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0487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783080" y="2395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市场机会与定位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783080" y="2788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&amp; Positioning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49440" y="2560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AI-CFD 速度赛道红海 · 合规审计蓝海 · 监管时间窗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835640" y="25603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P4-P6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4612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649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783080" y="33558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项目实证：已经在跑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3749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4944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Contract · 10 案例算力 · AI 累积学习 · 后处理报告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835640" y="35204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P8-P14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2511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783080" y="43159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工程治理与团队信号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783080" y="47091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 &amp; Signals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4480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三层治理 · 196 决策 · 145 代码审查 · 量化进展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35640" y="44805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P16-P18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166360"/>
            <a:ext cx="11064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5166360"/>
            <a:ext cx="73152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8523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783080" y="52760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风险、路线图、Ask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783080" y="5669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Risks &amp; Roadmap &amp; Ask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49440" y="5440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· 12 个月路线 · 资源请求 · 决策请求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835640" y="54406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P20-P24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F766E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市场机会与定位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Market Opportunity &amp; Positioning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速度赛道红海 · 合规审计蓝海 · 监管时间窗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AI-CFD 全市场都在卷 "快", 我们走 "可信"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Everyone Bets on Speed · We Bet on Trust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57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赛道现状 (压缩)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PhysicsNeMo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2608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开源底座 · GPU 销售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2514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585216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Concept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Geo-CNN 设计副驾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3017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Luminary Cloud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26080" y="3520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PaaS · NVIDIA 深绑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3520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585216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SimAI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2608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CAE 巨头 +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1208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模板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58521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Cadence Reality DT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260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数据中心散热 / 半导体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4526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5852160" cy="4572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Siemens Simcenter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92608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PLM-CAE-CAD 一体化 +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+ 模板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21208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/ 合规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赛道定位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2057400"/>
            <a:ext cx="4937760" cy="425196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0" y="2057400"/>
            <a:ext cx="73152" cy="42519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6" name="Text 34"/>
          <p:cNvSpPr/>
          <p:nvPr/>
        </p:nvSpPr>
        <p:spPr>
          <a:xfrm>
            <a:off x="685800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我们的位置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2606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audit-first AI-CFD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858000" y="324612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V&amp;V 当一等公民写进流程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案例必须先过合约才能跑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审计材料是副产品, 不是后补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 一键签名导出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买单方 = 合规官 (而非工程师)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目标定价 $20-60k/seat/年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监管时间窗：从 "理论" 到 "强制"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Regulatory Window · From Should to Must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88920"/>
            <a:ext cx="1033272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269748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起草 V&amp;V40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医疗器械计算建模与仿真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初版征求意见稿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2697480"/>
            <a:ext cx="228600" cy="228600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V&amp;V40 终稿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明确仿真证据等级要求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Credibility 五要素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2697480"/>
            <a:ext cx="228600" cy="2286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V&amp;V 40 航空延伸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ASME / AIAA 联合制定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 CFD 取证标准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2697480"/>
            <a:ext cx="228600" cy="2286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(现在)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DO-178C ML 附录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6384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民用航空 ML/AI 适航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首批审定指南成熟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72800" y="2697480"/>
            <a:ext cx="228600" cy="2286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10332720" y="2331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2027+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0" y="3108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强制实施 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96696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受理仅接受 V&amp;V40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合规材料的医疗仿真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64240" cy="169164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617720"/>
            <a:ext cx="73152" cy="16916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全球受监管 CFD 用户群规模 (TAM)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5166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~12,000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6012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受监管医疗仿真团队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美国为主 · V&amp;V40 适用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5166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~25,000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65760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航空航天 CFD 工程师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Tier-1/2/3 · 全球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55080" y="5166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~3,500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35508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核能 NQA-1 团队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美国 + 欧盟 + 日韩中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52560" y="5166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$200M+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05256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可寻址年合规预算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052560" y="5925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$15-20k/座 × 渗透率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项目实证：已经在跑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Evidence · This Is Already Working Software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Physics Contract · 10 案例真实算力 · 165 次试错累积学习 · 后处理报告自动产出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核心创新：Physics Contract 强制门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Innovation · Physics-Contract Enforcement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8483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→ 求解 → 对比文献 → 写 Word → 补审计   </a:t>
            </a:r>
            <a:pPr indent="0" marL="0">
              <a:buNone/>
            </a:pPr>
            <a:r>
              <a:rPr lang="en-US" sz="1000" i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(30-60 工程师小时)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我们：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合约校验 → 通过即跑 → 自动比对 → 硬 Gate → 一键签名审计包   </a:t>
            </a:r>
            <a:pPr indent="0" marL="0">
              <a:buNone/>
            </a:pPr>
            <a:r>
              <a:rPr lang="en-US" sz="10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(分钟级)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真实合约示例 · knowledge/gold_standards/lid_driven_cavity.yaml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6400800" cy="3154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91840"/>
            <a:ext cx="59436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literature: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Ghia et al. 1982 J. Comp. Phys. 47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ref_value: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u_centerline:   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[16 个文献基准点]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tolerance: </a:t>
            </a:r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5% 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来自文献 Table I 注释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preconditions: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mesh_density &gt;= 129×129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Reynolds_number == 100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solver == simpleFoam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pointwise_5pct_band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contract_status: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失活则禁止运行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13232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Gates 强制门  (洗白路径被代码堵死)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3200400"/>
            <a:ext cx="44805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0" y="3200400"/>
            <a:ext cx="6400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3200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32369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tolerance_band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86384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测量必须落在文献容差带内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0" y="3703320"/>
            <a:ext cx="44805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3703320"/>
            <a:ext cx="6400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37398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86384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残差必须 &lt; 1e-5 单调收敛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32320" y="4206240"/>
            <a:ext cx="44805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0" y="4206240"/>
            <a:ext cx="6400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42062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42428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mesh_precondition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63840" y="44348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网格分辨率不达标 → 拒跑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32320" y="4709160"/>
            <a:ext cx="44805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4709160"/>
            <a:ext cx="6400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4709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863840" y="4745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physics_regime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0" y="49377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 / 边界条件 必须落在合约范围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0" y="5212080"/>
            <a:ext cx="44805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0" y="5212080"/>
            <a:ext cx="6400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0" y="5212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524865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comparator_match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63840" y="5440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比对算法版本必须与合约一致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5715000"/>
            <a:ext cx="44805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32320" y="5715000"/>
            <a:ext cx="64008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57150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A1-A6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863840" y="575157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audit_concern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0" y="5943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silent-PASS 风险显式标记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真实算例 #1：lid_driven_cavity Re=100 完整 V&amp;V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Case · 4 真实图来自 reports/phase5_renders/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流场云图 + 流线  ·  contour_u_magnitude.png</a:t>
            </a:r>
            <a:endParaRPr lang="en-US" sz="1000" dirty="0"/>
          </a:p>
        </p:txBody>
      </p:sp>
      <p:pic>
        <p:nvPicPr>
          <p:cNvPr id="9" name="Image 0" descr="/sessions/dreamy-clever-ritchie/mnt/outputs/img/ldc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331720"/>
            <a:ext cx="5394960" cy="1783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126480" y="2011680"/>
            <a:ext cx="5486400" cy="2743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2011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U 中心线 vs Ghia 1982  ·  profile_u_centerline.png</a:t>
            </a:r>
            <a:endParaRPr lang="en-US" sz="1000" dirty="0"/>
          </a:p>
        </p:txBody>
      </p:sp>
      <p:pic>
        <p:nvPicPr>
          <p:cNvPr id="12" name="Image 1" descr="/sessions/dreamy-clever-ritchie/mnt/outputs/img/ldc_pro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31720"/>
            <a:ext cx="5394960" cy="1783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48640" y="4251960"/>
            <a:ext cx="5486400" cy="2743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残差收敛历史  ·  residuals.png</a:t>
            </a:r>
            <a:endParaRPr lang="en-US" sz="1000" dirty="0"/>
          </a:p>
        </p:txBody>
      </p:sp>
      <p:pic>
        <p:nvPicPr>
          <p:cNvPr id="15" name="Image 2" descr="/sessions/dreamy-clever-ritchie/mnt/outputs/img/ldc_residua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4572000"/>
            <a:ext cx="5394960" cy="17830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26480" y="4251960"/>
            <a:ext cx="5486400" cy="27432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17" name="Text 12"/>
          <p:cNvSpPr/>
          <p:nvPr/>
        </p:nvSpPr>
        <p:spPr>
          <a:xfrm>
            <a:off x="6263640" y="4251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逐点偏差 + Gate 颜色  ·  pointwise_deviation.png</a:t>
            </a:r>
            <a:endParaRPr lang="en-US" sz="1000" dirty="0"/>
          </a:p>
        </p:txBody>
      </p:sp>
      <p:pic>
        <p:nvPicPr>
          <p:cNvPr id="18" name="Image 3" descr="/sessions/dreamy-clever-ritchie/mnt/outputs/img/ldc_devi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572000"/>
            <a:ext cx="5394960" cy="1783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真实算例 #2-10：9 个案例 contour 一览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Cases · All Real OpenFOAM Output, Not Mocks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8" name="Image 0" descr="/sessions/dreamy-clever-ritchie/mnt/outputs/img/cylinder_cont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3474720" cy="914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0358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circular_cylinder_wake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Williamson 1996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315968" y="20574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12" name="Image 1" descr="/sessions/dreamy-clever-ritchie/mnt/outputs/img/naca_contou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2103120"/>
            <a:ext cx="347472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30358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naca0012_airfoil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453128" y="3200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Ladson 1988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8083296" y="20574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16" name="Image 2" descr="/sessions/dreamy-clever-ritchie/mnt/outputs/img/dhc_contou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36" y="2103120"/>
            <a:ext cx="3474720" cy="914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0456" y="30358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differential_heated_cavity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8220456" y="32004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 Vahl Davis 1983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20" name="Image 3" descr="/sessions/dreamy-clever-ritchie/mnt/outputs/img/flatplate_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474720"/>
            <a:ext cx="3474720" cy="9144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" y="4407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turbulent_flat_plate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685800" y="4572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Blasius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4315968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24" name="Image 4" descr="/sessions/dreamy-clever-ritchie/mnt/outputs/img/channel_contou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3474720"/>
            <a:ext cx="3474720" cy="914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53128" y="4407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plane_channel_flow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453128" y="4572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Moser 1999 DNS</a:t>
            </a:r>
            <a:endParaRPr lang="en-US" sz="800" dirty="0"/>
          </a:p>
        </p:txBody>
      </p:sp>
      <p:sp>
        <p:nvSpPr>
          <p:cNvPr id="27" name="Shape 20"/>
          <p:cNvSpPr/>
          <p:nvPr/>
        </p:nvSpPr>
        <p:spPr>
          <a:xfrm>
            <a:off x="8083296" y="34290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28" name="Image 5" descr="/sessions/dreamy-clever-ritchie/mnt/outputs/img/duct_contou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4736" y="3474720"/>
            <a:ext cx="3474720" cy="9144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220456" y="44074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duct_flow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220456" y="45720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Jones 1976</a:t>
            </a:r>
            <a:endParaRPr lang="en-US" sz="800" dirty="0"/>
          </a:p>
        </p:txBody>
      </p:sp>
      <p:sp>
        <p:nvSpPr>
          <p:cNvPr id="31" name="Shape 23"/>
          <p:cNvSpPr/>
          <p:nvPr/>
        </p:nvSpPr>
        <p:spPr>
          <a:xfrm>
            <a:off x="548640" y="48006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32" name="Image 6" descr="/sessions/dreamy-clever-ritchie/mnt/outputs/img/jet_contou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46320"/>
            <a:ext cx="3474720" cy="91440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85800" y="5779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impinging_jet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685800" y="59436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Cooper 1984</a:t>
            </a:r>
            <a:endParaRPr lang="en-US" sz="800" dirty="0"/>
          </a:p>
        </p:txBody>
      </p:sp>
      <p:sp>
        <p:nvSpPr>
          <p:cNvPr id="35" name="Shape 26"/>
          <p:cNvSpPr/>
          <p:nvPr/>
        </p:nvSpPr>
        <p:spPr>
          <a:xfrm>
            <a:off x="4315968" y="48006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36" name="Image 7" descr="/sessions/dreamy-clever-ritchie/mnt/outputs/img/rbenard_contou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7408" y="4846320"/>
            <a:ext cx="3474720" cy="91440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453128" y="5779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rayleigh_benard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4453128" y="59436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Chaivat 2006</a:t>
            </a:r>
            <a:endParaRPr lang="en-US" sz="800" dirty="0"/>
          </a:p>
        </p:txBody>
      </p:sp>
      <p:sp>
        <p:nvSpPr>
          <p:cNvPr id="39" name="Shape 29"/>
          <p:cNvSpPr/>
          <p:nvPr/>
        </p:nvSpPr>
        <p:spPr>
          <a:xfrm>
            <a:off x="8083296" y="4800600"/>
            <a:ext cx="365760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pic>
        <p:nvPicPr>
          <p:cNvPr id="40" name="Image 8" descr="/sessions/dreamy-clever-ritchie/mnt/outputs/img/ldc_contou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736" y="4846320"/>
            <a:ext cx="3474720" cy="91440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8220456" y="577900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8220456" y="59436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Ghia 1982 ★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均来自 reports/phase5_renders/&lt;case&gt;/&lt;timestamp&gt;/contour_u_magnitude.png · OpenFOAM 真实求解, 非 mock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 · 自动验证报告 (YAML)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Auto-Verify Report · Machine-Readable Audit Output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reports/lid_driven_cavity_benchmark/auto_verify_report.yaml  (节选)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6400800" cy="4023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468880"/>
            <a:ext cx="60350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case_id: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lid_driven_cavity_benchmark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convergence: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status: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final_residual:    9e-6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target_residual:   1e-5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gold_standard_comparison: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overall: </a:t>
            </a:r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observable: u_centerline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ref_points: 16     # Ghia 1982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sim_points: 16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passed_within_5pct: 11/17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audit_concerns: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tag:  COMPATIBLE_WITH_SILENT_PASS_HAZARD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detail: spalding_fallback_confirmed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literature_doi:  10.1016/0021-9991(82)90058-4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commit_sha:      a3f8c2d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decision_link:   DEC-V61-058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signed_at:       2026-04-21T08:23:40Z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一份自动产出的 YAML 等价于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0" y="2377440"/>
            <a:ext cx="45720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2560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35240" y="25328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convergence 凭证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761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残差曲线日志 + 终值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69480" y="30632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35240" y="3035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gold_standard 对比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35240" y="3264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点文献参考逐点偏差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269480" y="35661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35240" y="35387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tolerance 判定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35240" y="3767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 容差带 11/17 PASS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269480" y="40690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35240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audit_concern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35240" y="4270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silent-PASS 风险显式标记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269480" y="45720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35240" y="4544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literature trace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47731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DOI + 表号 + 列号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69480" y="5074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35240" y="50474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trace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527608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SHA + 决策 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269480" y="55778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55504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签名时间戳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5779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HMAC-SHA256 签名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132320" y="6080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审核员 1 个文件就能复核, 不再要 5 个 Excel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系统的累积学习：165 次试错 → 知识资产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Cumulative Learning · Errors Become Capital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031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我们的系统不是 "跑完忘记"。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每一次仿真偏差都被自动记录到 </a:t>
            </a:r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这些试错记录成为下次仿真的 </a:t>
            </a:r>
            <a:pPr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前置条件、容差边界、甚至物理合约的输入。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每日新增的 corrections 记录数 (2026-04-12 → 2026-04-24)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48640" y="3200400"/>
          <a:ext cx="7315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8092440" y="2834640"/>
            <a:ext cx="3520440" cy="329184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2971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累积成果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0" y="3429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 corrections 记录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29600" y="395020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601200" y="3995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错误根因分类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0" y="451713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01200" y="45628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覆盖案例数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229600" y="50840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601200" y="512978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活跃天数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29600" y="5650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12.7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601200" y="56967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日均新增 / 活跃日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解读：04-15/04-17 高峰 = 同时跑 8 个新案例的 "暴露期"；04-18/04-20 谷底 = 前期错误已被合约固化, 不再重犯。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错误根因分类 · 系统会自动归类并写入合约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 Taxonomy · Auto-Classified Into Knowledge 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 条 corrections 的根因分类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377440"/>
          <a:ext cx="53035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12648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一条真实 correction 的内容 (节选)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2331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knowledge/corrections/20260413T050507_lid-driven_cavity_QUANTITY_DEVIATION.yaml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126480" y="2606040"/>
            <a:ext cx="5486400" cy="3749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2" name="Text 9"/>
          <p:cNvSpPr/>
          <p:nvPr/>
        </p:nvSpPr>
        <p:spPr>
          <a:xfrm>
            <a:off x="6355080" y="2697480"/>
            <a:ext cx="51206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error_type: </a:t>
            </a:r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QUANTITY_DEVIATION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wrong_output: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u_centerline[0]:  0.0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u_centerline[1]:  -0.037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correct_output: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u_centerline[0]:  -0.03717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Ghia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u_centerline[1]:  -0.04192  </a:t>
            </a:r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Ghia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Tolerance: 5.0% | Failed: 2 deviation(s)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rel_err: 100.0% (idx=0), 11.7% (idx=1)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root_cause: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关键物理量偏离参考值, 可能原因: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网格分辨率不足或湍流模型不当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fix_action: </a:t>
            </a:r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加密关键区域网格, 重新运行并对比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needs_replay: </a:t>
            </a:r>
            <a:pPr indent="0" marL="0">
              <a:buNone/>
            </a:pPr>
            <a:r>
              <a:rPr lang="en-US" sz="1000" b="1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自动加入下次回归测试集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深度验收报告：233 份 visual_acceptance HTML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 Acceptance · 233 Auto-Generated Audit HTML Reports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11064240" cy="777240"/>
          </a:xfrm>
          <a:prstGeom prst="rect">
            <a:avLst/>
          </a:prstGeom>
          <a:solidFill>
            <a:srgbClr val="13243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011680"/>
            <a:ext cx="73152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03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</a:t>
            </a:r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contract_status_dashboard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visual_acceptance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执行后, 系统自动产出一份 HTML 验收报告; 包含合约状态矩阵、每个 case 的图与残差、决策链回链。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 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reports/deep_acceptance/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已积累 </a:t>
            </a:r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 份  =  151 visual_acceptance + 82 contract_status_dashboard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deep_acceptance 报告 (节选时间序)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2026-05-07 02:28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57400" y="3392424"/>
            <a:ext cx="1691640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339242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0" y="33832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case 重跑 · M5 STL 案例首次纳入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94360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2026-05-03 21:41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57400" y="3758184"/>
            <a:ext cx="1691640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2057400" y="37581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0" y="37490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V61-097 Phase 1A teach 模式渲染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2026-05-03 19:40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57400" y="4123944"/>
            <a:ext cx="1691640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4" name="Text 22"/>
          <p:cNvSpPr/>
          <p:nvPr/>
        </p:nvSpPr>
        <p:spPr>
          <a:xfrm>
            <a:off x="2057400" y="41239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40480" y="41148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Q-new gate 4-5× 偏差复核会议附件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594360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2026-05-03 17:59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57400" y="4489704"/>
            <a:ext cx="1691640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2057400" y="448970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40480" y="448056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Tier-A 8 案例锁定 · DEC-V61-089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846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18:56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57400" y="4855464"/>
            <a:ext cx="1691640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2057400" y="485546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840480" y="484632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DHC Ra=1e6 Q-1 外门解锁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8640" y="5166360"/>
            <a:ext cx="594360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212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2026-04-26 16:23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057400" y="5221224"/>
            <a:ext cx="1691640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2057400" y="522122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840480" y="52120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iter04 / 05 / 06 stranger dogfood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532120"/>
            <a:ext cx="594360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55778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2026-04-25 12:53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057400" y="5586984"/>
            <a:ext cx="1691640" cy="21945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2057400" y="558698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840480" y="557784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 import 路径 first stranger 测试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5897880"/>
            <a:ext cx="5943600" cy="32918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5943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2026-04-25 01:16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057400" y="5952744"/>
            <a:ext cx="1691640" cy="21945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9" name="Text 47"/>
          <p:cNvSpPr/>
          <p:nvPr/>
        </p:nvSpPr>
        <p:spPr>
          <a:xfrm>
            <a:off x="2057400" y="5952744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840480" y="5943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Whitelist v0.7 trace 升级评审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75120" y="2971800"/>
            <a:ext cx="4937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675120" y="2971800"/>
            <a:ext cx="73152" cy="3383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690372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用户自定义 case 通道也在跑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90372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reports/imported_*  共 9 个用户上传的 STL 案例端到端跑过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03720" y="384048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imported_2026-05-07T10-16-54Z_3f9dd6a7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903720" y="408736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imported_2026-05-07T10-27-03Z_1e6fcecf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6903720" y="433425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imported_2026-05-07T10-50-06Z_b4ff4031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903720" y="458114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imported_2026-05-07T12-00-06Z_9aa09191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03720" y="48280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imported_2026-05-07T12-03-02Z_61442510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903720" y="50749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imported_2026-05-07T12-05-54Z_8ef4aa5f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903720" y="53218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imported_2026-05-07T12-06-26Z_b440a05b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903720" y="55686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imported_2026-05-07T12-19-03Z_8960cabd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903720" y="581558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 + 1 more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903720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M5 STL 导入 + M6 gmsh 网格 端到端管线 已经在用户场景验证。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产品形态：教学 + 审计 双 UI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Two-UI Product · /learn (Demo) + /pro (Audit)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5440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544068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305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/learn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面向新人 · 教学故事流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4892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个文献基准案例 · 可视化目录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Tab：故事 / 对比 / 网格 / 运行 / 进阶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切换不同质量的 run 看 verdict 如何变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网格收敛滑块 + sparkline 实时动画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降低新员工 / 客户讲解门槛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5669280"/>
            <a:ext cx="48920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起作用：销售 demo · 实习培训 · 客户讲解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011680"/>
            <a:ext cx="54406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011680"/>
            <a:ext cx="544068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3055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面向受监管行业 · V&amp;V 第一面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971800"/>
            <a:ext cx="4892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屏：Dashboard · Cases · Decisions · Runs · Audit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Decisions Queue 把 ADWM 决策链落到 UI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 Builder 一键签名导出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 Gate 拦住 silent-PASS · audit_concern 标记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控制面同步 (可选)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46520" y="5669280"/>
            <a:ext cx="4892040" cy="3657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5760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起作用：合规审核 · 提交监管 · 内部签字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059669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工程治理与团队信号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 · Team Signals · Quantified Progress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 决策 · 145 代码审查 · 74 测试 · 三层治理体系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量化进展：硬数据告诉你这不是 PPT 项目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 Numbers · Beyond a Slide Deck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03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03120"/>
            <a:ext cx="269748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决策落账 (DEC)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.planning/decisions/*.md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10712" y="2103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10712" y="2103120"/>
            <a:ext cx="26974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39312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39312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代码审查报告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39312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reports/codex_tool_reports/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72784" y="2103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2784" y="210312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501384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测试文件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01384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 (单元+集成+dogfood)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34856" y="210312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34856" y="2103120"/>
            <a:ext cx="2697480" cy="54864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3317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363456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Python 模块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63456" y="33832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src/auto_verifier · audit_package · 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1148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11480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77724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React 组件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ui/frontend/src/**/*.tsx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410712" y="41148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10712" y="4114800"/>
            <a:ext cx="269748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3639312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3639312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试错累积记录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39312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knowledge/corrections/*.yaml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72784" y="41148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72784" y="4114800"/>
            <a:ext cx="2697480" cy="54864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9" name="Text 37"/>
          <p:cNvSpPr/>
          <p:nvPr/>
        </p:nvSpPr>
        <p:spPr>
          <a:xfrm>
            <a:off x="6501384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6501384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深度验收报告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01384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reports/deep_acceptance/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134856" y="4114800"/>
            <a:ext cx="26974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34856" y="4114800"/>
            <a:ext cx="2697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9363456" y="43434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10/10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9363456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anchor 案例端到端 PASS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363456" y="5394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OpenFOAM 真实求解 · 全绿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以上数字均可以通过仓库 git history + 文件系统命令 现场复核, 不存在 PPT 注水。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工程治理：让代码不仅仅是代码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Three-Layer Governance Discipline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1554480" cy="12344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65176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命名一致 + Notion 双向同步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0" y="2221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 Ledger (DEC)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86000" y="26243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每一次非平凡变更落入编号 DEC-V61-XXX；决策点 · 替代方案 · 验收准则 · 撤销路径都被记录。当前 196 条 (DEC-V61-001 → V61-196 active)。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429000"/>
            <a:ext cx="1554480" cy="12344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402336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1605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高风险变更过门强制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5935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多轮 Pre-merge 审查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39959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 / 加密 / 安全边界类变更必须先过 Codex GPT-5.4-xhigh 多轮审查 (round cap = 3)；单 PR 平均 2-3 轮收敛。当前 145 份审查报告。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642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800600"/>
            <a:ext cx="1554480" cy="1234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9377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7240" y="5394960"/>
            <a:ext cx="109728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532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防一言堂 / 上下文偏见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4965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Kogami 独立战略复审 (opt-in)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286000" y="536752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claude -p subprocess 用相同模型隔离上下文做 "对手 / 第二意见" 复审。Charter 级 / 跨 ≥3 模块的变更建议触发。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这套治理体系本身就是产品的 "复利" — 同样的纪律 1:1 复用到客户审计场景。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6400800" cy="6400800"/>
          </a:xfrm>
          <a:prstGeom prst="ellipse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风险、路线图、Ask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Risks · Roadmap · Resource Ask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754880"/>
            <a:ext cx="1097280" cy="54864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大风险 · 12 个月路线图 · 团队 / 算力 / 预算请求 · 决策请求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风险地图与缓解措施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 Map &amp; Mitigations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640080" cy="7315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21305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市场容量风险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4414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受监管 CFD 痛点真实, 但是否够 $5-10M ARR 支撑独立产品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2103120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14884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0–2 完成 10 个 named buyer 谈话；若 ARR 信号 &lt; $3M, 转 "嵌入头部 CAE" 路径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98648"/>
            <a:ext cx="64008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89864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9718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Build-vs-Buy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2826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Ansys 可能在 2027–28 上线审计包功能, 被巨头抄进口袋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34840" y="2944368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2990088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抢类目命名 + 物理合约知识库 (10 → 30 案例); 知识深度比 UI 难复制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739896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739896"/>
            <a:ext cx="640080" cy="731520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73989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813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 / 买单方风险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25880" y="41239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合规官不是 CFD 专家; UI 暴露过多 solver 术语, 买单方不敢自决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434840" y="3785616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831336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 PDF 在 1 名非 CFD 合规官处做 blind review, 不通过不发布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581144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581144"/>
            <a:ext cx="64008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58114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25880" y="465429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求解器单点依赖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25880" y="49651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目前仅 OpenFOAM, 限制 Phase 5+ 物理覆盖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434840" y="4626864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672584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6 后引入 SU2 / code_saturne 第二执行器；MVP 阶段可接受单点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5422392"/>
            <a:ext cx="110642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54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5422392"/>
            <a:ext cx="640080" cy="7315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2239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25880" y="5495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 / 团队风险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325880" y="5806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 1 人 + AI Agent 协作; Pilot 阶段需 sales / 法规 / CS 支援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34840" y="5468112"/>
            <a:ext cx="36576" cy="6400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551383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立项后第 1 个月配 1-2 工程师 + 1 兼职法规顾问 + 1 BD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个月路线图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12-Month Roadmap to First Pilot Acceptance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269748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221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(M1-M3)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技术补完 + 第一客户发现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74720"/>
            <a:ext cx="365760" cy="3657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118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M7-M8 完成 (snappyHexMesh + 初学者报告)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 审计包 PDF + HMAC 闭环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名 named compliance officer 发现谈话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 A 第一位 stranger dogfood 招募成功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10712" y="205740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10712" y="2057400"/>
            <a:ext cx="2697480" cy="6400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/>
          <p:nvPr/>
        </p:nvSpPr>
        <p:spPr>
          <a:xfrm>
            <a:off x="3639312" y="2221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(M4-M6)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39312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进场 · 法规验证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39312" y="3474720"/>
            <a:ext cx="365760" cy="36576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36118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家受监管客户启动 Pilot (FDA + 航空 Tier-2)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控制面 + SSO + SOC2 启动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 10 → 20 (引入压缩 / 多相场景)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 / Kogami 治理流程对外文档化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72784" y="205740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2784" y="2057400"/>
            <a:ext cx="269748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6501384" y="2221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(M7-M9)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01384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签约 · 第二曲线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01384" y="3474720"/>
            <a:ext cx="3657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501384" y="36118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 家 Pilot 客户签约 Regulated Team 合约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Package 1.0 GA · 商用版本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Copilot (LLM Agent) 接入 case 配置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招募 sales / customer success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34856" y="2057400"/>
            <a:ext cx="269748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34856" y="2057400"/>
            <a:ext cx="2697480" cy="64008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27" name="Text 25"/>
          <p:cNvSpPr/>
          <p:nvPr/>
        </p:nvSpPr>
        <p:spPr>
          <a:xfrm>
            <a:off x="9363456" y="22219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 (M10-M12)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63456" y="28346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受限发布 · ARR 起量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363456" y="3474720"/>
            <a:ext cx="365760" cy="36576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9363456" y="36118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 家 Regulated Team 合约 · ARR ≥ $75k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tier 发布 (SOC2 + 私有部署)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SU2 / code_saturne 第二执行器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下一年度规划 + 融资材料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资源请求：12 个月需要什么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Ask · What I Need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5204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57400"/>
            <a:ext cx="352044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76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50876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全职工程师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名 (1 后端 / 1 前端)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529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目前: 1 人 + AI Agent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3794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兼职法规顾问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0416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名 (V&amp;V40 / ASME)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306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起 · 0.2-0.4 FTE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 / 客户成功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8188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名 (Q2 起)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0840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进场 + 续约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5349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合规官 advisor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596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名外部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861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 + 航空各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51960" y="2057400"/>
            <a:ext cx="35204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51960" y="2057400"/>
            <a:ext cx="3520440" cy="77724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2176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521208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算力 / 基础设施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8056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+ OpenFOAM 集群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8-16 vCPU × 4 节点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80560" y="3529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Pilot 阶段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3794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 GPU (可选)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40416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× A100 / H100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80560" y="4306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6 AI surrogate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80560" y="4572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Notion Enterprise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48188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工作区 · 10 席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480560" y="50840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决策落账 + 协作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80560" y="5349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SOC2 / 安全审计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480560" y="5596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Q3-Q4 启动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80560" y="5861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tier 前置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55280" y="2057400"/>
            <a:ext cx="35204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955280" y="2057400"/>
            <a:ext cx="3520440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8183880" y="217627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891540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个月预算估算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8388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 (含社保)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326440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¥240-320 万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3529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工程师 + 0.4 顾问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83880" y="3794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 / 基础设施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183880" y="404164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¥ 30-50 万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183880" y="4306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/ Azure + Notion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83880" y="45720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 / 合规咨询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83880" y="481888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¥ 20-40 万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183880" y="508406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V&amp;V40 模板审阅 + SOC2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83880" y="53492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 / Pilot 触达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183880" y="55961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 ¥ 20-30 万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83880" y="586130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 + 行业会议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914400"/>
            <a:ext cx="5029200" cy="5029200"/>
          </a:xfrm>
          <a:prstGeom prst="ellipse">
            <a:avLst/>
          </a:prstGeom>
          <a:solidFill>
            <a:srgbClr val="0F766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64592" cy="12801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决策请求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600" kern="0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920240" y="19019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正式立项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cfd-harness-unified 从内部研究项目升格为正式产品立项 · 以 "audit-first AI-CFD" 为类目战略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20240" y="31821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 12 个月资源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576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全职工程师 + 0.4 法规顾问 + 1 BD/CS · ~¥320-440 万年度预算 · GPU + Notion + SOC2 启动费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3891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920240" y="44622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 review 在 Q1 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49377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 验收：Phase 5 审计包 GA + 10 名 named buyer 谈话完成 + 第 1 位 stranger dogfood 通过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5852160"/>
            <a:ext cx="54864" cy="5029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852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"等到 Ansys 推出审计包是 2028 年的事；那一年我们应该已经拿下了类目命名权。"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汇报人：Yagami  ·  cfd-harness-unified  ·  2026-05-10  ·  v2 (含真实仿真证据)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本汇报数据取证路径 (任何人可现场复核)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· Reproducibility Checklist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11680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个文献基准案例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knowledge/gold_standards/*.yaml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knowledge/gold_standards/*.yaml | wc -l → 15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011680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165 条 corrections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83880" y="20574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knowledge/corrections/*.yaml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55080" y="230428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knowledge/corrections/*.yaml | wc -l → 165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2670048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670048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张真实仿真渲染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2715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reports/phase5_renders/**/*.png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296265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reports/phase5_renders -name '*.png' | wc -l → 39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2670048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2670048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715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233 份验收报告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83880" y="2715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reports/deep_acceptance/*.{html,md}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55080" y="2962656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reports/deep_acceptance/ | wc -l → 233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3328416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3328416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 imported 用户案例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560320" y="33741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reports/imported_*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362102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-d reports/imported_* | wc -l → 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3328416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3328416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196 条决策落账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33741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.planning/decisions/*.md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3621024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.planning/decisions/*.md | wc -l → 196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8640" y="3986784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3986784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9" name="Text 37"/>
          <p:cNvSpPr/>
          <p:nvPr/>
        </p:nvSpPr>
        <p:spPr>
          <a:xfrm>
            <a:off x="73152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145 份 Codex 审查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560320" y="40325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reports/codex_tool_reports/*.md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" y="42793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reports/codex_tool_reports/*.md | wc -l → 145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72200" y="3986784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3986784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032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 个测试文件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83880" y="40325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tests/test_*.py + ui/backend/tests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355080" y="427939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tests/ -name 'test_*.py' | wc -l → 74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4645152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48640" y="4645152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 个 Python 模块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60320" y="4690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src/**/*.py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" y="49377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src/ -name '*.py' | wc -l → 61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172200" y="4645152"/>
            <a:ext cx="54406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72200" y="4645152"/>
            <a:ext cx="54864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4690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99 React 组件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183880" y="4690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ui/frontend/src/**/*.tsx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355080" y="4937760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ui/frontend -name '*.tsx' | wc -l → 99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 在仓库根目录运行任意一行命令即可现场复核 PPT 中的数字。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cfd-harness-unified · 立项汇报 v2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69848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cfd-harness-unified 立项汇报 v2</dc:title>
  <dc:subject>PptxGenJS Presentation</dc:subject>
  <dc:creator>Yagami</dc:creator>
  <cp:lastModifiedBy>Yagami</cp:lastModifiedBy>
  <cp:revision>1</cp:revision>
  <dcterms:created xsi:type="dcterms:W3CDTF">2026-05-10T09:04:05Z</dcterms:created>
  <dcterms:modified xsi:type="dcterms:W3CDTF">2026-05-10T09:04:05Z</dcterms:modified>
</cp:coreProperties>
</file>