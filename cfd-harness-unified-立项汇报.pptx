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4114800"/>
            <a:ext cx="5029200" cy="5029200"/>
          </a:xfrm>
          <a:prstGeom prst="ellipse">
            <a:avLst/>
          </a:prstGeom>
          <a:solidFill>
            <a:srgbClr val="0F766E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5029200"/>
            <a:ext cx="2743200" cy="2743200"/>
          </a:xfrm>
          <a:prstGeom prst="ellipse">
            <a:avLst/>
          </a:prstGeom>
          <a:solidFill>
            <a:srgbClr val="115E59">
              <a:alpha val="3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822960"/>
            <a:ext cx="164592" cy="146304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7772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PROJECT  KICKOFF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3716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cfd-harness-unified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914400" y="228600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合规优先的 AI-CFD 工作台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Audit-First AI-CFD Workbench  ·  立项汇报材料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14400" y="4754880"/>
            <a:ext cx="54864" cy="137160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475488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合规官买单 · CFD 工程师使用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在被速度刷屏的 AI-CFD 赛道里，开辟可被监管接受的第二条曲线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6263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汇报时间：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年 5 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汇报对象：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公司决策层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申请事项：</a:t>
            </a:r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正式立项 · 资源配置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972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执行摘要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一页讲清楚：我们做什么、为什么是现在、要什么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Executive Summary in One Page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11064240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194560"/>
            <a:ext cx="544068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194560"/>
            <a:ext cx="73152" cy="196596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35915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WHAT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265176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我们做什么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3108960"/>
            <a:ext cx="4983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V&amp;V (Verification &amp; Validation) 从 "事后写文档" 变成 "事前合约" — 每次 CFD 仿真自动生成可签名的、监管级别的审计包：测量值 ↔ 黄金标准 ↔ 容差带 ↔ 文献引用 ↔ 代码版本 ↔ 决策链 一站式。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72200" y="2194560"/>
            <a:ext cx="544068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72200" y="2194560"/>
            <a:ext cx="73152" cy="196596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235915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46520" y="265176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为什么是现在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46520" y="3108960"/>
            <a:ext cx="4983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FDA V&amp;V40 (2023 终稿)、ASME V&amp;V 40、DO-178C ML 附录陆续生效，监管对可审计 CFD 的需求从 "theoretical" 转向 "mandatory"；而 NVIDIA / Neural Concept / Luminary 等头部全部押注 "更快"，没人在 "可信" 这条线上。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343400"/>
            <a:ext cx="544068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4343400"/>
            <a:ext cx="73152" cy="19659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50799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PROOF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" y="480060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已交付了什么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22960" y="5257800"/>
            <a:ext cx="4983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3.12 + FastAPI + React 工作台已可运行；OpenFOAM 真实求解链路打通；10 个文献引用基准案例 + 物理合约；196 条决策落账、145 份 Codex 代码审查；M1-M4 主线闭环已完成。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72200" y="4343400"/>
            <a:ext cx="544068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72200" y="4343400"/>
            <a:ext cx="73152" cy="19659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4" name="Text 22"/>
          <p:cNvSpPr/>
          <p:nvPr/>
        </p:nvSpPr>
        <p:spPr>
          <a:xfrm>
            <a:off x="6446520" y="450799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ASK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46520" y="480060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立项请求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446520" y="5257800"/>
            <a:ext cx="4983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正式立项为 12 个月产品化项目；申请专属研发团队 + 算力 + 法规 / BD 协同资源；目标：12 个月内完成 1-2 家 Pilot 客户合规验收，进入受限发布。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cfd-harness-unified · 立项汇报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" cy="457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286000"/>
            <a:ext cx="110642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286000"/>
            <a:ext cx="73152" cy="86868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404872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783080" y="239572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市场机会窗口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783080" y="278892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Market Opportunity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949440" y="25603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AI-CFD 赛道现状 · 头部格局 · 被忽视的蓝海 · 监管时间窗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835640" y="256032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P5-P8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110642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246120"/>
            <a:ext cx="73152" cy="86868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364992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1783080" y="335584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项目定位与产品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783080" y="374904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Project Positioning &amp; Product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949440" y="35204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差异化定位 · Physics Contract · 双 UI · 技术架构 · 商业模式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835640" y="352044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P10-P17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206240"/>
            <a:ext cx="110642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4206240"/>
            <a:ext cx="73152" cy="86868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325112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1783080" y="431596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进展与证据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783080" y="470916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Progress &amp; Evidence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949440" y="44805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里程碑 · 量化数据 · 工程治理 · 可演示能力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835640" y="448056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P19-P22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5166360"/>
            <a:ext cx="110642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48640" y="5166360"/>
            <a:ext cx="73152" cy="86868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5285232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1783080" y="527608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风险、路线图与资源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1783080" y="56692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Risks &amp; Roadmap &amp; Resources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949440" y="54406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大风险 · 12 个月计划 · 团队 / 算力 / 预算请求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835640" y="544068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P24-P26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cfd-harness-unified · 立项汇报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1828800"/>
            <a:ext cx="6400800" cy="6400800"/>
          </a:xfrm>
          <a:prstGeom prst="ellipse">
            <a:avLst/>
          </a:prstGeom>
          <a:solidFill>
            <a:srgbClr val="0F766E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0" dirty="0"/>
          </a:p>
        </p:txBody>
      </p:sp>
      <p:sp>
        <p:nvSpPr>
          <p:cNvPr id="4" name="Text 2"/>
          <p:cNvSpPr/>
          <p:nvPr/>
        </p:nvSpPr>
        <p:spPr>
          <a:xfrm>
            <a:off x="548640" y="32918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市场机会窗口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4114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Market Opportunity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4754880"/>
            <a:ext cx="1097280" cy="54864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4937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AI-CFD 赛道现状 · 头部公司格局 · 被忽视的合规蓝海 · 监管驱动的时间窗口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cfd-harness-unified · 立项汇报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972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AI-CFD 赛道：高速增长的红海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Industry Snapshot · Speed Track is Crowded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11064240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194560"/>
            <a:ext cx="53035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194560"/>
            <a:ext cx="73152" cy="105156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2860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USD 15.5B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200400" y="2286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全球仿真软件市场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0" y="26517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CAGR 11–13% · CFD 子赛道 11%/年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3383280"/>
            <a:ext cx="53035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383280"/>
            <a:ext cx="73152" cy="105156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4747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$300M+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200400" y="3474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AI-CFD 公司近 12 月融资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00400" y="38404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Neural Concept $100M C / Luminary $72M B / PhysicsX $135M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4572000"/>
            <a:ext cx="53035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4572000"/>
            <a:ext cx="73152" cy="105156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6634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10⁴×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3200400" y="46634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surrogate 已实现的加速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00400" y="50292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Airbus 压力场预测：1h → 30ms (Neural Concept)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126480" y="2194560"/>
            <a:ext cx="5486400" cy="4114800"/>
          </a:xfrm>
          <a:prstGeom prst="rect">
            <a:avLst/>
          </a:prstGeom>
          <a:solidFill>
            <a:srgbClr val="13243F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0" y="23317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关键观察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309360" y="2697480"/>
            <a:ext cx="457200" cy="36576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25" name="Text 23"/>
          <p:cNvSpPr/>
          <p:nvPr/>
        </p:nvSpPr>
        <p:spPr>
          <a:xfrm>
            <a:off x="6309360" y="28346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整个赛道全部押注一个维度：更快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309360" y="3337560"/>
            <a:ext cx="5212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NVIDIA PhysicsNeMo：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 Physics-ML 框架，对标 "PyTorch + 模板"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Neural Concept：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Geo-CNN 几何 surrogate · 4 成 F1 车队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Luminary Cloud：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SHIFT-Crash 整车碰撞秒级预测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Ansys SimAI：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 CAE 巨头的 AI 转身 · 15 TB 数据训练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Cadence Reality DT：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数据中心散热 GB200 · 24h 替代 CPU 数日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cfd-harness-unified · 立项汇报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/ 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972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头部公司都在卷 "AI 替代求解器"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 Players · All Bet on "Faster"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11064240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194560"/>
            <a:ext cx="11064240" cy="502920"/>
          </a:xfrm>
          <a:prstGeom prst="rect">
            <a:avLst/>
          </a:prstGeom>
          <a:solidFill>
            <a:srgbClr val="13243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2402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厂商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29000" y="22402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核心打法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29400" y="22402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目标客户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372600" y="22402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 / 合规支持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697480"/>
            <a:ext cx="1106424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7432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NVIDIA PhysicsNeMo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29000" y="27432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 Physics-ML 底座 + GPU 销售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629400" y="27432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全行业研发团队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372600" y="27432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 (基础设施层)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200400"/>
            <a:ext cx="11064240" cy="50292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24612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Neural Concept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29000" y="32461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几何 AI 副驾，外形快速优化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629400" y="324612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汽车 / F1 / 航空设计师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372600" y="324612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 (设计阶段产品)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3703320"/>
            <a:ext cx="1106424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37490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Luminary Cloud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429000" y="37490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云端 PaaS · NVIDIA 深绑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629400" y="37490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汽车 / 航空 / 电子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372600" y="37490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弱 (运营级 MLOps)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4206240"/>
            <a:ext cx="11064240" cy="50292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" y="425196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Ansys SimAI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429000" y="42519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 CAE 巨头 + AI 训练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629400" y="425196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已有 Ansys 生态客户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372600" y="42519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 + 模板 (best-practices)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" y="4709160"/>
            <a:ext cx="1106424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685800" y="47548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Siemens Simcenter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429000" y="47548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PLM-CAE-CAD 一体化 + AI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629400" y="47548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整机厂商体系内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372600" y="47548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 + 模板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48640" y="5212080"/>
            <a:ext cx="11064240" cy="50292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38" name="Text 36"/>
          <p:cNvSpPr/>
          <p:nvPr/>
        </p:nvSpPr>
        <p:spPr>
          <a:xfrm>
            <a:off x="685800" y="52578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Cadence Reality DT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429000" y="52578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数据中心 / 半导体散热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629400" y="52578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算力中心 / 数据中心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9372600" y="52578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 (基础设施 DT)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48640" y="5715000"/>
            <a:ext cx="1106424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685800" y="576072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 (积鼎/气动咖)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429000" y="57607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 CAE + 信创 + GPU 加速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629400" y="576072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国内汽车 / 低空 / 央企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9372600" y="576072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弱 (起步期)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48640" y="6446520"/>
            <a:ext cx="11064240" cy="502920"/>
          </a:xfrm>
          <a:prstGeom prst="rect">
            <a:avLst/>
          </a:prstGeom>
          <a:solidFill>
            <a:srgbClr val="13243F"/>
          </a:solidFill>
          <a:ln/>
        </p:spPr>
      </p:sp>
      <p:sp>
        <p:nvSpPr>
          <p:cNvPr id="48" name="Shape 46"/>
          <p:cNvSpPr/>
          <p:nvPr/>
        </p:nvSpPr>
        <p:spPr>
          <a:xfrm>
            <a:off x="548640" y="6446520"/>
            <a:ext cx="73152" cy="5029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9" name="Text 47"/>
          <p:cNvSpPr/>
          <p:nvPr/>
        </p:nvSpPr>
        <p:spPr>
          <a:xfrm>
            <a:off x="777240" y="65379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 / 合规一栏全部为 "无" 或 "弱" — 这是一个被全市场系统性忽视的赛道。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cfd-harness-unified · 立项汇报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/ 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972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被忽视的蓝海：合规 &amp; 审计赛道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Ignored Blue Ocean: Audit &amp; Compliance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11064240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103120"/>
            <a:ext cx="11064240" cy="1005840"/>
          </a:xfrm>
          <a:prstGeom prst="rect">
            <a:avLst/>
          </a:prstGeom>
          <a:solidFill>
            <a:srgbClr val="13243F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212848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受监管行业 (航空 / 医疗 / 核能 / 制药) 的 CFD 工程师每跑完一个验证算例后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2542032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需要花 </a:t>
            </a:r>
            <a:pPr indent="0" marL="0">
              <a:buNone/>
            </a:pPr>
            <a:r>
              <a:rPr lang="en-US" sz="3600" b="1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30–60 工程师小时</a:t>
            </a:r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补审计材料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548640" y="3337560"/>
            <a:ext cx="35204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3337560"/>
            <a:ext cx="73152" cy="12801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4747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证据散落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77240" y="388620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Word 报告 · Excel 表格 · 邮件链 · PDF 截图 · 截图 + 路径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251960" y="3337560"/>
            <a:ext cx="35204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51960" y="3337560"/>
            <a:ext cx="73152" cy="1280160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16" name="Text 14"/>
          <p:cNvSpPr/>
          <p:nvPr/>
        </p:nvSpPr>
        <p:spPr>
          <a:xfrm>
            <a:off x="4480560" y="34747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引用难追溯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480560" y="388620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黄金值来自哪篇论文？容差为何选 5%？容差谁批准？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955280" y="3337560"/>
            <a:ext cx="35204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955280" y="3337560"/>
            <a:ext cx="73152" cy="12801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0" name="Text 18"/>
          <p:cNvSpPr/>
          <p:nvPr/>
        </p:nvSpPr>
        <p:spPr>
          <a:xfrm>
            <a:off x="8183880" y="34747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无法机器验证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183880" y="388620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审核员只能人工复读 PDF；签字后无法自动复现仿真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4846320"/>
            <a:ext cx="11064240" cy="14630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983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市场结构性现状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7240" y="5349240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</a:t>
            </a:r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买单方 = 合规官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; 但所有现有 CFD 软件都为 </a:t>
            </a:r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工程师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设计 — 痛点与购买决策权严重错位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Ansys / STAR-CCM+ 给的全部是 "best-practices PDF + 模板"，没有公司把审计包做成一等公民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AI-CFD 创业公司的 surrogate 越准、越快，监管对 "如何信任" 的疑问就越大 —— 反而扩大了审计空缺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cfd-harness-unified · 立项汇报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/ 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972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监管时间窗：从 "理论需求" 到 "强制要求"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Regulatory Window · From "Should" to "Must"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11064240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2926080"/>
            <a:ext cx="10332720" cy="3657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8" name="Shape 6"/>
          <p:cNvSpPr/>
          <p:nvPr/>
        </p:nvSpPr>
        <p:spPr>
          <a:xfrm>
            <a:off x="1188720" y="2834640"/>
            <a:ext cx="228600" cy="22860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4688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2018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2880" y="324612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FDA 起草 V&amp;V40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82880" y="38404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医疗器械计算建模与仿真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初版征求意见稿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749040" y="2834640"/>
            <a:ext cx="228600" cy="228600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3" name="Text 11"/>
          <p:cNvSpPr/>
          <p:nvPr/>
        </p:nvSpPr>
        <p:spPr>
          <a:xfrm>
            <a:off x="3108960" y="24688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43200" y="324612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FDA V&amp;V40 终稿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743200" y="38404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明确仿真证据等级要求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Credibility Assessment 五要素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309360" y="2834640"/>
            <a:ext cx="228600" cy="22860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0" y="24688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2024-25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03520" y="324612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ASME V&amp;V 40 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航空航天延伸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303520" y="38404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ASME / AIAA 联合制定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航空 CFD 取证标准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869680" y="2834640"/>
            <a:ext cx="228600" cy="2286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0" y="24688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(现在)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863840" y="324612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DO-178C ML 附录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863840" y="38404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民用航空 ML/AI 适航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首批审定指南成熟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0972800" y="2834640"/>
            <a:ext cx="228600" cy="22860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5" name="Text 23"/>
          <p:cNvSpPr/>
          <p:nvPr/>
        </p:nvSpPr>
        <p:spPr>
          <a:xfrm>
            <a:off x="10332720" y="24688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2027+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966960" y="324612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强制实施 →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966960" y="38404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FDA 受理仅接受 V&amp;V40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合规材料的医疗仿真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48640" y="4754880"/>
            <a:ext cx="11064240" cy="1554480"/>
          </a:xfrm>
          <a:prstGeom prst="rect">
            <a:avLst/>
          </a:prstGeom>
          <a:solidFill>
            <a:srgbClr val="13243F"/>
          </a:solidFill>
          <a:ln/>
        </p:spPr>
      </p:sp>
      <p:sp>
        <p:nvSpPr>
          <p:cNvPr id="29" name="Shape 27"/>
          <p:cNvSpPr/>
          <p:nvPr/>
        </p:nvSpPr>
        <p:spPr>
          <a:xfrm>
            <a:off x="548640" y="4754880"/>
            <a:ext cx="73152" cy="155448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" y="4892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全球受监管 CFD 用户群规模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60120" y="53492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~12,000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960120" y="57607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FDA 受监管医疗仿真团队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60120" y="60624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美国为主 · V&amp;V40 适用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657600" y="53492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~25,000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3657600" y="57607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航空航天 CFD 工程师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657600" y="60624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Tier-1/2/3 总和 · 全球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355080" y="53492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~3,500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6355080" y="57607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核能 NQA-1 仿真团队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355080" y="60624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 + 欧盟 + 日韩中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9052560" y="53492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$200M+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9052560" y="57607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可寻址年合规预算 (TAM)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9052560" y="60624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$15-20k/seat × 渗透率 · 估算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cfd-harness-unified · 立项汇报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/ 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1828800"/>
            <a:ext cx="6400800" cy="6400800"/>
          </a:xfrm>
          <a:prstGeom prst="ellipse">
            <a:avLst/>
          </a:prstGeom>
          <a:solidFill>
            <a:srgbClr val="0F766E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0" dirty="0"/>
          </a:p>
        </p:txBody>
      </p:sp>
      <p:sp>
        <p:nvSpPr>
          <p:cNvPr id="4" name="Text 2"/>
          <p:cNvSpPr/>
          <p:nvPr/>
        </p:nvSpPr>
        <p:spPr>
          <a:xfrm>
            <a:off x="548640" y="32918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项目定位与产品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4114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Project Positioning &amp; Product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4754880"/>
            <a:ext cx="1097280" cy="54864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4937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差异化定位 · Physics Contract · 双 UI · 技术架构 · 商业模式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cfd-harness-unified · 立项汇报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/ 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972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我们的定位：合规优先的 AI-CFD 工作台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Our Positioning · Audit-First, Not Speed-First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11064240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103120"/>
            <a:ext cx="11064240" cy="1463040"/>
          </a:xfrm>
          <a:prstGeom prst="rect">
            <a:avLst/>
          </a:prstGeom>
          <a:solidFill>
            <a:srgbClr val="13243F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103120"/>
            <a:ext cx="109728" cy="146304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194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ELEVATOR  PITCH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251460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 CFD 仿真自动产出一份</a:t>
            </a:r>
            <a:pPr indent="0" marL="0">
              <a:buNone/>
            </a:pPr>
            <a:r>
              <a:rPr lang="en-US" sz="2200" b="1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可签名的、监管级别的审计包</a:t>
            </a:r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— </a:t>
            </a:r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测量值 ↔ 黄金标准 ↔ 容差带 ↔ 文献引用 ↔ 代码版本 ↔ 决策链 一站式打包，让审核员直接接受，而不是再要 5 个 Excel。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48640" y="3840480"/>
            <a:ext cx="352044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22960" y="4114800"/>
            <a:ext cx="640080" cy="64008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114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77240" y="48920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买单方 = 合规官 / 用户 = 工程师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55321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把合同 / 采购权与痛点对齐 — 这是和现有 CFD 软件最根本的差异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251960" y="3840480"/>
            <a:ext cx="352044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26280" y="4114800"/>
            <a:ext cx="640080" cy="64008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8" name="Text 16"/>
          <p:cNvSpPr/>
          <p:nvPr/>
        </p:nvSpPr>
        <p:spPr>
          <a:xfrm>
            <a:off x="4526280" y="4114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4480560" y="48920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V&amp;V 是流程内嵌, 不是 PDF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480560" y="55321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案例必须先通过 physics_contract 才能跑；跑完自动产出审计材料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955280" y="3840480"/>
            <a:ext cx="352044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229600" y="4114800"/>
            <a:ext cx="640080" cy="64008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0" y="4114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8183880" y="48920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narrow &amp; deep, 不做通用 CAE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183880" y="55321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OpenFOAM-only · 不可压 + 自然对流 + RANS 起步 · 后期再扩；不做 CAD / mesh UX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cfd-harness-unified · 立项汇报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972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核心创新：Physics Contract 强制门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Core Innovation: Physics-Contract Enforcement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11064240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103120"/>
            <a:ext cx="5440680" cy="164592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19456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传统流程：先跑后补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2697480"/>
            <a:ext cx="86868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69748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设置 case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737360" y="2697480"/>
            <a:ext cx="86868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1737360" y="269748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跑求解器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697480" y="2697480"/>
            <a:ext cx="86868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2697480" y="269748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对比文献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0" y="2697480"/>
            <a:ext cx="86868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0" y="269748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 Word 报告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17720" y="2697480"/>
            <a:ext cx="86868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4617720" y="269748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补审计材料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77240" y="3200400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PASS 标签可洗白；审计时回头补 → 30–60 工程小时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72200" y="2103120"/>
            <a:ext cx="5440680" cy="1645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219456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我们的流程：合约先于求解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0" y="2697480"/>
            <a:ext cx="86868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0" y="269748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合约校验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360920" y="2697480"/>
            <a:ext cx="86868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7360920" y="269748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通过即跑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321040" y="2697480"/>
            <a:ext cx="86868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8321040" y="269748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自动比对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281160" y="2697480"/>
            <a:ext cx="86868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9281160" y="269748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 Gate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0241280" y="2697480"/>
            <a:ext cx="86868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10241280" y="269748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签名审计包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400800" y="3200400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洗白路径被代码堵死；审计材料 = 副产品 → 1 click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8640" y="4069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Physics Contract 是什么？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48640" y="4526280"/>
            <a:ext cx="6858000" cy="17830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5" name="Text 33"/>
          <p:cNvSpPr/>
          <p:nvPr/>
        </p:nvSpPr>
        <p:spPr>
          <a:xfrm>
            <a:off x="731520" y="461772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knowledge/gold_standards/lid_driven_cavity.yaml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31520" y="4937760"/>
            <a:ext cx="6583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ref_value:        </a:t>
            </a:r>
            <a:pPr indent="0" marL="0">
              <a:buNone/>
            </a:pPr>
            <a:r>
              <a:rPr lang="en-US" sz="1000" b="1" dirty="0">
                <a:solidFill>
                  <a:srgbClr val="EAB3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0.0578 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u-centerline mid-cavity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tolerance:        </a:t>
            </a:r>
            <a:pPr indent="0" marL="0">
              <a:buNone/>
            </a:pPr>
            <a:r>
              <a:rPr lang="en-US" sz="1000" b="1" dirty="0">
                <a:solidFill>
                  <a:srgbClr val="EAB3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[-0.005, +0.005]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literature:     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Ghia et al. (1982) Table 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preconditions:  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[mesh_density&gt;=129x129, Re=100]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contract_status:  </a:t>
            </a:r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active 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必须 active 才能跑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589520" y="45262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含义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589520" y="4846320"/>
            <a:ext cx="4023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黄金值: </a:t>
            </a:r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出处明确, 不可拍脑袋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容差: </a:t>
            </a:r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文献支撑, 不可事后调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前置: </a:t>
            </a:r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网格 / Re 不达标 → 拒跑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状态: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失活合约自动拒绝运行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cfd-harness-unified · 立项汇报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972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产品形态：教学 + 审计 双 UI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Two-UI Product · /learn (Demo) + /pro (Audit Workbench)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11064240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103120"/>
            <a:ext cx="5440680" cy="4160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103120"/>
            <a:ext cx="5440680" cy="7772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221992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/learn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22960" y="260604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面向新人 · 教学故事流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3063240"/>
            <a:ext cx="48920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个文献基准案例的可视化目录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每张卡片 5 个 Tab：故事 / 对比 / 网格 / 运行 / 进阶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切换不同质量的 run 看 verdict 如何变化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网格收敛滑块 + sparkline 实时收敛动画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降低新员工 / 客户讲解门槛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5760720"/>
            <a:ext cx="4892040" cy="3657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585216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起作用：销售 demo · 实习培训 · 客户讲解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2103120"/>
            <a:ext cx="5440680" cy="4160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72200" y="2103120"/>
            <a:ext cx="5440680" cy="77724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6" name="Text 14"/>
          <p:cNvSpPr/>
          <p:nvPr/>
        </p:nvSpPr>
        <p:spPr>
          <a:xfrm>
            <a:off x="6446520" y="2221992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446520" y="260604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面向受监管行业 · V&amp;V 第一面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92240" y="3063240"/>
            <a:ext cx="48920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屏：Dashboard · Cases · Decisions · Runs · Audit Package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Decisions Queue 把 ADWM 决策链落到 UI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Audit Package Builder 一键导出 + HMAC 签名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 Gate 拦住 silent-PASS · 显式 audit_concern 标记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对接 Notion 控制面 (可选)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46520" y="5760720"/>
            <a:ext cx="4892040" cy="3657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0" name="Text 18"/>
          <p:cNvSpPr/>
          <p:nvPr/>
        </p:nvSpPr>
        <p:spPr>
          <a:xfrm>
            <a:off x="6446520" y="585216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起作用：合规审核 · 提交监管 · 内部签字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cfd-harness-unified · 立项汇报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26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972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技术架构：四层 + 双轨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Architecture · Four Layers, Two Tracks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11064240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148840"/>
            <a:ext cx="1106424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148840"/>
            <a:ext cx="2377440" cy="96012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3774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前端层 / Frontend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108960" y="22860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/learn (10 案例故事流)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406640" y="22860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/pro (V&amp;V 工作台 · 5 屏)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108960" y="26700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Vite + React 18 + TypeScript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406640" y="26700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99 个 .tsx 组件已落地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246120"/>
            <a:ext cx="1106424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3246120"/>
            <a:ext cx="2377440" cy="9601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4747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层 / Backend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108960" y="33832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FastAPI · Pydantic v2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406640" y="33832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Cases / Runs / Decisions / Audit API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108960" y="37673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SSE 实时 phase 事件 (Q13)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406640" y="37673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61 个 Python 模块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4343400"/>
            <a:ext cx="1106424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4343400"/>
            <a:ext cx="2377440" cy="96012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5720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核心引擎 / Engine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108960" y="44805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auto_verifier · comparator_gates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406640" y="44805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convergence_attestor · audit_package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108960" y="486460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Physics Contract 校验链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406640" y="486460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Gate G1-G5 / Audit A1-A6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5440680"/>
            <a:ext cx="1106424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8640" y="5440680"/>
            <a:ext cx="2377440" cy="960120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56692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求解器层 / Solver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108960" y="55778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FoamAgent (Docker + OpenFOAM)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406640" y="55778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MockExecutor (CI · 单元测试快路径)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108960" y="596188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可扩展：未来 SU2 / code_saturne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406640" y="596188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Notion 控制面 (可选 sync)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cfd-harness-unified · 立项汇报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/ 26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972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个文献基准案例 (我们的 "种子库")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Ten Canonical Cases · Curated Gold Standards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11064240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194560"/>
            <a:ext cx="11064240" cy="457200"/>
          </a:xfrm>
          <a:prstGeom prst="rect">
            <a:avLst/>
          </a:prstGeom>
          <a:solidFill>
            <a:srgbClr val="13243F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22402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115568" y="22402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 (gold_standards/*.yaml)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230368" y="2240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文献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424928" y="2240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关键指标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710928" y="2240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工况 / 状态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2651760"/>
            <a:ext cx="1106424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2651760"/>
            <a:ext cx="54864" cy="329184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6883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115568" y="268833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lid_driven_cavity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230368" y="268833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Ghia 1982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424928" y="268833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 中心线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710928" y="26883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层流 / 不可压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2980944"/>
            <a:ext cx="11064240" cy="329184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2980944"/>
            <a:ext cx="54864" cy="329184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" y="3017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115568" y="30175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circular_cylinder_wake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230368" y="3017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Williamson 1996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424928" y="3017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Strouhal St=0.165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710928" y="3017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瞬态尾流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48640" y="3310128"/>
            <a:ext cx="1106424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548640" y="3310128"/>
            <a:ext cx="54864" cy="329184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29" name="Text 27"/>
          <p:cNvSpPr/>
          <p:nvPr/>
        </p:nvSpPr>
        <p:spPr>
          <a:xfrm>
            <a:off x="658368" y="33467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115568" y="334670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naca0012_airfoil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230368" y="33467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Ladson 1988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424928" y="334670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 / Cl / Cd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9710928" y="33467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RANS k-ω SST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48640" y="3639312"/>
            <a:ext cx="11064240" cy="329184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35" name="Text 33"/>
          <p:cNvSpPr/>
          <p:nvPr/>
        </p:nvSpPr>
        <p:spPr>
          <a:xfrm>
            <a:off x="658368" y="3675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115568" y="36758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backward_facing_step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230368" y="36758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Driver 1985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424928" y="367588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再附长度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9710928" y="36758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RANS k-ε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48640" y="3968496"/>
            <a:ext cx="1106424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658368" y="40050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1115568" y="40050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turbulent_flat_plate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230368" y="40050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Blasius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424928" y="40050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Cf 摩擦系数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9710928" y="4005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湍流相似解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48640" y="4297680"/>
            <a:ext cx="11064240" cy="329184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47" name="Text 45"/>
          <p:cNvSpPr/>
          <p:nvPr/>
        </p:nvSpPr>
        <p:spPr>
          <a:xfrm>
            <a:off x="658368" y="43342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1115568" y="433425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duct_flow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230368" y="43342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Jones 1976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7424928" y="433425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摩擦因子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9710928" y="43342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方管 RANS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548640" y="4626864"/>
            <a:ext cx="1106424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Text 51"/>
          <p:cNvSpPr/>
          <p:nvPr/>
        </p:nvSpPr>
        <p:spPr>
          <a:xfrm>
            <a:off x="658368" y="4663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1115568" y="4663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differential_heated_cavity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230368" y="4663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 Vahl Davis 1983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7424928" y="46634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Nu (Ra=1e6)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9710928" y="4663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自然对流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548640" y="4956048"/>
            <a:ext cx="11064240" cy="329184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59" name="Text 57"/>
          <p:cNvSpPr/>
          <p:nvPr/>
        </p:nvSpPr>
        <p:spPr>
          <a:xfrm>
            <a:off x="658368" y="49926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1115568" y="499262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plane_channel_flow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5230368" y="49926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Moser 1999 DNS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7424928" y="499262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u+ vs y+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9710928" y="49926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Re_τ=180 DNS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548640" y="5285232"/>
            <a:ext cx="1106424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5" name="Text 63"/>
          <p:cNvSpPr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1115568" y="53218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impinging_jet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5230368" y="53218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Cooper 1984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7424928" y="53218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Nu 沿径向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9710928" y="53218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热传 (HOLD)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548640" y="5614416"/>
            <a:ext cx="11064240" cy="329184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71" name="Text 69"/>
          <p:cNvSpPr/>
          <p:nvPr/>
        </p:nvSpPr>
        <p:spPr>
          <a:xfrm>
            <a:off x="658368" y="56509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1115568" y="56509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rayleigh_benard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5230368" y="56509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Chaivat 2006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7424928" y="56509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Nu 时序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9710928" y="56509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热对流 (HOLD)</a:t>
            </a:r>
            <a:endParaRPr lang="en-US" sz="950" dirty="0"/>
          </a:p>
        </p:txBody>
      </p:sp>
      <p:sp>
        <p:nvSpPr>
          <p:cNvPr id="76" name="Text 74"/>
          <p:cNvSpPr/>
          <p:nvPr/>
        </p:nvSpPr>
        <p:spPr>
          <a:xfrm>
            <a:off x="548640" y="603504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</a:t>
            </a:r>
            <a:pPr indent="0" marL="0">
              <a:buNone/>
            </a:pPr>
            <a:r>
              <a:rPr lang="en-US" sz="950" i="1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锚点案例 = 故事-对比-证据闭环最完整, 优先用于 demo 与销售   ·   </a:t>
            </a:r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HOLD </a:t>
            </a:r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 文献再溯源中 (Q-new gate 4-5× 偏差待复核), 不计入交付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cfd-harness-unified · 立项汇报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/ 26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972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差异化对比：我们 vs 头部 CFD 软件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Where We Win · Differentiation Matrix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11064240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148840"/>
            <a:ext cx="11064240" cy="457200"/>
          </a:xfrm>
          <a:prstGeom prst="rect">
            <a:avLst/>
          </a:prstGeom>
          <a:solidFill>
            <a:srgbClr val="13243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1945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0" y="21945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Ansys / STAR-CCM+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0" y="21945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SimScale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217920" y="21945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Neural Concept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046720" y="21945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 (cfd-harness-unified)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606040"/>
            <a:ext cx="110642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7955280" y="2606040"/>
            <a:ext cx="3657600" cy="45720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6517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CAD / Mesh UX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0" y="26517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0" y="2651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217920" y="26517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046720" y="2651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不做 (聚焦 V&amp;V)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063240"/>
            <a:ext cx="11064240" cy="45720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21" name="Shape 19"/>
          <p:cNvSpPr/>
          <p:nvPr/>
        </p:nvSpPr>
        <p:spPr>
          <a:xfrm>
            <a:off x="7955280" y="3063240"/>
            <a:ext cx="3657600" cy="4572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108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物理覆盖广度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743200" y="31089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72000" y="31089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217920" y="31089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046720" y="3108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 (窄而深)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3520440"/>
            <a:ext cx="110642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7955280" y="3520440"/>
            <a:ext cx="3657600" cy="45720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35661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求解器速度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743200" y="3566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572000" y="35661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217920" y="3566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046720" y="3566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 (OpenFOAM 真实链路)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" y="3977640"/>
            <a:ext cx="11064240" cy="45720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35" name="Shape 33"/>
          <p:cNvSpPr/>
          <p:nvPr/>
        </p:nvSpPr>
        <p:spPr>
          <a:xfrm>
            <a:off x="7955280" y="3977640"/>
            <a:ext cx="3657600" cy="4572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" y="40233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surrogate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743200" y="40233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 (SimAI)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572000" y="40233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217920" y="40233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8046720" y="40233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未做 (路线 V2 后再考虑)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48640" y="4434840"/>
            <a:ext cx="110642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Shape 40"/>
          <p:cNvSpPr/>
          <p:nvPr/>
        </p:nvSpPr>
        <p:spPr>
          <a:xfrm>
            <a:off x="7955280" y="4434840"/>
            <a:ext cx="3657600" cy="45720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43" name="Text 41"/>
          <p:cNvSpPr/>
          <p:nvPr/>
        </p:nvSpPr>
        <p:spPr>
          <a:xfrm>
            <a:off x="640080" y="44805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V&amp;V 流程化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2743200" y="44805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 + 模板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572000" y="44805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模板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217920" y="44805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8046720" y="44805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 (合约强制门)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48640" y="4892040"/>
            <a:ext cx="11064240" cy="45720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49" name="Shape 47"/>
          <p:cNvSpPr/>
          <p:nvPr/>
        </p:nvSpPr>
        <p:spPr>
          <a:xfrm>
            <a:off x="7955280" y="4892040"/>
            <a:ext cx="3657600" cy="4572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50" name="Text 48"/>
          <p:cNvSpPr/>
          <p:nvPr/>
        </p:nvSpPr>
        <p:spPr>
          <a:xfrm>
            <a:off x="640080" y="49377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审计包导出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2743200" y="49377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 (人工)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4572000" y="4937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217920" y="49377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8046720" y="4937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 (一键签名 PDF + zip)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48640" y="5349240"/>
            <a:ext cx="110642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6" name="Shape 54"/>
          <p:cNvSpPr/>
          <p:nvPr/>
        </p:nvSpPr>
        <p:spPr>
          <a:xfrm>
            <a:off x="7955280" y="5349240"/>
            <a:ext cx="3657600" cy="45720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57" name="Text 55"/>
          <p:cNvSpPr/>
          <p:nvPr/>
        </p:nvSpPr>
        <p:spPr>
          <a:xfrm>
            <a:off x="640080" y="5394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买单方画像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2743200" y="53949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工程师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4572000" y="53949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工程师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6217920" y="53949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工程师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8046720" y="5394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合规官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63" name="Shape 61"/>
          <p:cNvSpPr/>
          <p:nvPr/>
        </p:nvSpPr>
        <p:spPr>
          <a:xfrm>
            <a:off x="7955280" y="5806440"/>
            <a:ext cx="3657600" cy="4572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64" name="Text 62"/>
          <p:cNvSpPr/>
          <p:nvPr/>
        </p:nvSpPr>
        <p:spPr>
          <a:xfrm>
            <a:off x="640080" y="58521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定价 / 年 / 座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2743200" y="5852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$50k-250k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4572000" y="58521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$30k-150k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6217920" y="5852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Enterprise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8046720" y="5852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$20k-60k (目标)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548640" y="630936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我们不与巨头正面竞争求解器 / 物理覆盖；唯一打 ★★★★★ 的两行是它们都没做的：流程化 V&amp;V + 审计包。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cfd-harness-unified · 立项汇报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/ 26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972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商业模式：分层订阅 + 服务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Commercial Model · Tiered SaaS + Services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11064240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194560"/>
            <a:ext cx="3520440" cy="3291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194560"/>
            <a:ext cx="3520440" cy="54864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3774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Solo Researcher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278892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$6k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/年/人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777240" y="35661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学术实验室 · 1 人咨询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77240" y="3950208"/>
            <a:ext cx="365760" cy="3657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06908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 audit packages/月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单用户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 SLA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公共基础设施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06240" y="2057400"/>
            <a:ext cx="3611880" cy="356616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5" name="Text 13"/>
          <p:cNvSpPr/>
          <p:nvPr/>
        </p:nvSpPr>
        <p:spPr>
          <a:xfrm>
            <a:off x="4251960" y="2075688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RECOMMENDED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251960" y="2194560"/>
            <a:ext cx="3520440" cy="3291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251960" y="2194560"/>
            <a:ext cx="3520440" cy="54864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8" name="Text 16"/>
          <p:cNvSpPr/>
          <p:nvPr/>
        </p:nvSpPr>
        <p:spPr>
          <a:xfrm>
            <a:off x="4480560" y="23774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Regulated Team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480560" y="278892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$25k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/年/座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4480560" y="35661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航空 / 医疗 / 制药 CFD 团队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480560" y="3950208"/>
            <a:ext cx="365760" cy="36576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2" name="Text 20"/>
          <p:cNvSpPr/>
          <p:nvPr/>
        </p:nvSpPr>
        <p:spPr>
          <a:xfrm>
            <a:off x="4480560" y="406908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audit packages 不限量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3+ 座 · 团队协作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 SLA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Notion 控制面 + SSO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955280" y="2194560"/>
            <a:ext cx="3520440" cy="3291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7955280" y="2194560"/>
            <a:ext cx="3520440" cy="54864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25" name="Text 23"/>
          <p:cNvSpPr/>
          <p:nvPr/>
        </p:nvSpPr>
        <p:spPr>
          <a:xfrm>
            <a:off x="8183880" y="23774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Enterprise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183880" y="278892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$60k+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/年/座</a:t>
            </a:r>
            <a:endParaRPr lang="en-US" sz="3800" dirty="0"/>
          </a:p>
        </p:txBody>
      </p:sp>
      <p:sp>
        <p:nvSpPr>
          <p:cNvPr id="27" name="Text 25"/>
          <p:cNvSpPr/>
          <p:nvPr/>
        </p:nvSpPr>
        <p:spPr>
          <a:xfrm>
            <a:off x="8183880" y="35661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Tier-1 国防 / 大药企 / 整车 OEM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183880" y="3950208"/>
            <a:ext cx="365760" cy="36576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29" name="Text 27"/>
          <p:cNvSpPr/>
          <p:nvPr/>
        </p:nvSpPr>
        <p:spPr>
          <a:xfrm>
            <a:off x="8183880" y="406908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专属支持 · SOC2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私有部署可选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高级 SLA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审计包定制 + 合规咨询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5623560"/>
            <a:ext cx="11064240" cy="685800"/>
          </a:xfrm>
          <a:prstGeom prst="rect">
            <a:avLst/>
          </a:prstGeom>
          <a:solidFill>
            <a:srgbClr val="13243F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571500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 辅助收入：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Per-audit-campaign Pro Services $5k-25k · 目标 1 年内占总营收 20-30%  ·  </a:t>
            </a:r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进场顺序：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FDA 医疗 → 航空 Tier-2/3 → 学术 / 国家实验室 → 核能 → 汽车碰撞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cfd-harness-unified · 立项汇报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/ 26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1828800"/>
            <a:ext cx="6400800" cy="6400800"/>
          </a:xfrm>
          <a:prstGeom prst="ellipse">
            <a:avLst/>
          </a:prstGeom>
          <a:solidFill>
            <a:srgbClr val="0F766E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0" dirty="0"/>
          </a:p>
        </p:txBody>
      </p:sp>
      <p:sp>
        <p:nvSpPr>
          <p:cNvPr id="4" name="Text 2"/>
          <p:cNvSpPr/>
          <p:nvPr/>
        </p:nvSpPr>
        <p:spPr>
          <a:xfrm>
            <a:off x="548640" y="32918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进展与证据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4114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Progress &amp; Evidence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4754880"/>
            <a:ext cx="1097280" cy="54864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4937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里程碑 · 量化数据 · 工程治理 · 现已可演示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cfd-harness-unified · 立项汇报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 / 26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972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里程碑：从 Phase 0 走到 Phase 5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Roadmap · Where We Are Now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11064240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103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已完成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54864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468880"/>
            <a:ext cx="73152" cy="11430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57860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0-4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28803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基础设施 + 工程治理体系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32004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v6.1 cutover · ADWM 决策机制 · 三层治理 (Codex / Kogami / Notion)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54864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749040"/>
            <a:ext cx="73152" cy="11430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8587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M1-M4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41605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Workbench Closed-Loop 闭环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7240" y="44805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RealSolverDriver + 编辑 case + Run history + Docker 失败分类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5029200"/>
            <a:ext cx="54864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5029200"/>
            <a:ext cx="73152" cy="11430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513892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M5-M6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" y="54406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STL 导入 + gmsh 网格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77240" y="5760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TrustGate 拦截非合约用户案例 · 5M / 50M 双层网格预算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63640" y="2103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 进行中 / 待启动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263640" y="2468880"/>
            <a:ext cx="54864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63640" y="2468880"/>
            <a:ext cx="73152" cy="114300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26" name="Text 24"/>
          <p:cNvSpPr/>
          <p:nvPr/>
        </p:nvSpPr>
        <p:spPr>
          <a:xfrm>
            <a:off x="6492240" y="257860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M7-M8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92240" y="28803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snappyHexMesh + 初学者报告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92240" y="32004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需要先解决 first stranger 测试 · M7 启动门已就位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63640" y="3749040"/>
            <a:ext cx="54864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63640" y="3749040"/>
            <a:ext cx="73152" cy="114300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1" name="Text 29"/>
          <p:cNvSpPr/>
          <p:nvPr/>
        </p:nvSpPr>
        <p:spPr>
          <a:xfrm>
            <a:off x="6492240" y="38587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5+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92240" y="41605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审计包 PDF + HMAC 签名验证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492240" y="44805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audit_package/ 模块已成型 · UI 导出按钮 + 验证程序待落地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263640" y="5029200"/>
            <a:ext cx="54864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263640" y="5029200"/>
            <a:ext cx="73152" cy="114300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6" name="Text 34"/>
          <p:cNvSpPr/>
          <p:nvPr/>
        </p:nvSpPr>
        <p:spPr>
          <a:xfrm>
            <a:off x="6492240" y="513892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Pilot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92240" y="54406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1-2 家受监管客户 Pilot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492240" y="5760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FDA 医疗 + Tier-2 航空 sales motion · 12 个月内目标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cfd-harness-unified · 立项汇报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 / 26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972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量化进展：硬数据告诉你这不是 PPT 项目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Hard Numbers · Beyond a Slide Deck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11064240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194560"/>
            <a:ext cx="26974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194560"/>
            <a:ext cx="2697480" cy="54864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4231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196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777240" y="31089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决策落账 (DEC)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34747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.planning/decisions/*.md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410712" y="2194560"/>
            <a:ext cx="26974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10712" y="2194560"/>
            <a:ext cx="2697480" cy="54864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4" name="Text 12"/>
          <p:cNvSpPr/>
          <p:nvPr/>
        </p:nvSpPr>
        <p:spPr>
          <a:xfrm>
            <a:off x="3639312" y="24231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145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3639312" y="31089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Codex 代码审查报告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39312" y="34747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reports/codex_tool_reports/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272784" y="2194560"/>
            <a:ext cx="26974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72784" y="2194560"/>
            <a:ext cx="269748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9" name="Text 17"/>
          <p:cNvSpPr/>
          <p:nvPr/>
        </p:nvSpPr>
        <p:spPr>
          <a:xfrm>
            <a:off x="6501384" y="24231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74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501384" y="31089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测试文件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01384" y="34747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tests/ (单元+集成+dogfood)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134856" y="2194560"/>
            <a:ext cx="26974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134856" y="2194560"/>
            <a:ext cx="2697480" cy="54864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24" name="Text 22"/>
          <p:cNvSpPr/>
          <p:nvPr/>
        </p:nvSpPr>
        <p:spPr>
          <a:xfrm>
            <a:off x="9363456" y="24231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61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9363456" y="31089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 Python 模块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363456" y="34747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src/auto_verifier · audit_package · …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48640" y="4206240"/>
            <a:ext cx="26974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48640" y="4206240"/>
            <a:ext cx="269748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44348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8B5C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99</a:t>
            </a:r>
            <a:endParaRPr lang="en-US" sz="3600" dirty="0"/>
          </a:p>
        </p:txBody>
      </p:sp>
      <p:sp>
        <p:nvSpPr>
          <p:cNvPr id="30" name="Text 28"/>
          <p:cNvSpPr/>
          <p:nvPr/>
        </p:nvSpPr>
        <p:spPr>
          <a:xfrm>
            <a:off x="777240" y="51206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 React 组件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77240" y="54864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ui/frontend/src/**/*.tsx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410712" y="4206240"/>
            <a:ext cx="26974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410712" y="4206240"/>
            <a:ext cx="2697480" cy="54864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34" name="Text 32"/>
          <p:cNvSpPr/>
          <p:nvPr/>
        </p:nvSpPr>
        <p:spPr>
          <a:xfrm>
            <a:off x="3639312" y="44348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AB30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3600" dirty="0"/>
          </a:p>
        </p:txBody>
      </p:sp>
      <p:sp>
        <p:nvSpPr>
          <p:cNvPr id="35" name="Text 33"/>
          <p:cNvSpPr/>
          <p:nvPr/>
        </p:nvSpPr>
        <p:spPr>
          <a:xfrm>
            <a:off x="3639312" y="51206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黄金标准合约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639312" y="54864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knowledge/gold_standards/*.yaml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272784" y="4206240"/>
            <a:ext cx="26974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6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272784" y="4206240"/>
            <a:ext cx="2697480" cy="54864"/>
          </a:xfrm>
          <a:prstGeom prst="rect">
            <a:avLst/>
          </a:prstGeom>
          <a:solidFill>
            <a:srgbClr val="115E59"/>
          </a:solidFill>
          <a:ln/>
        </p:spPr>
      </p:sp>
      <p:sp>
        <p:nvSpPr>
          <p:cNvPr id="39" name="Text 37"/>
          <p:cNvSpPr/>
          <p:nvPr/>
        </p:nvSpPr>
        <p:spPr>
          <a:xfrm>
            <a:off x="6501384" y="44348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5E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71</a:t>
            </a:r>
            <a:endParaRPr lang="en-US" sz="3600" dirty="0"/>
          </a:p>
        </p:txBody>
      </p:sp>
      <p:sp>
        <p:nvSpPr>
          <p:cNvPr id="40" name="Text 38"/>
          <p:cNvSpPr/>
          <p:nvPr/>
        </p:nvSpPr>
        <p:spPr>
          <a:xfrm>
            <a:off x="6501384" y="51206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 / 产品文档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501384" y="54864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 (设计 · ADR · 规约)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9134856" y="4206240"/>
            <a:ext cx="26974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6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9134856" y="4206240"/>
            <a:ext cx="269748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4" name="Text 42"/>
          <p:cNvSpPr/>
          <p:nvPr/>
        </p:nvSpPr>
        <p:spPr>
          <a:xfrm>
            <a:off x="9363456" y="44348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10/10</a:t>
            </a:r>
            <a:endParaRPr lang="en-US" sz="3600" dirty="0"/>
          </a:p>
        </p:txBody>
      </p:sp>
      <p:sp>
        <p:nvSpPr>
          <p:cNvPr id="45" name="Text 43"/>
          <p:cNvSpPr/>
          <p:nvPr/>
        </p:nvSpPr>
        <p:spPr>
          <a:xfrm>
            <a:off x="9363456" y="51206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anchor 案例端到端跑通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9363456" y="54864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OpenFOAM 真实求解 · MockExecutor 全绿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以上数字均可以通过仓库 git history + 文件系统命令 现场复核，不存在 PPT 注水。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cfd-harness-unified · 立项汇报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 / 26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972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工程治理：让代码不仅仅是代码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Engineering Governance · Three-Layer Discipline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11064240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148840"/>
            <a:ext cx="110642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148840"/>
            <a:ext cx="1554480" cy="12344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2860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77240" y="2743200"/>
            <a:ext cx="109728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8803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命名一致 + Notion 双向同步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286000" y="231343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Decision Ledger (DEC)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286000" y="2715768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每一次非平凡变更落入编号 DEC-V61-XXX；决策点 · 替代方案 · 验收准则 · 撤销路径都被记录。当前 196 条 (DEC-V61-001 → V61-196 active)。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520440"/>
            <a:ext cx="110642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3520440"/>
            <a:ext cx="1554480" cy="123444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657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代码层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77240" y="4114800"/>
            <a:ext cx="109728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42519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高风险变更过门强制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286000" y="368503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Codex 多轮 Pre-merge 审查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286000" y="4087368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Auth / 加密 / 安全边界类变更必须先过 Codex GPT-5.4-xhigh 多轮审查 (round cap = 3)；单 PR 平均 2-3 轮收敛。当前 145 份审查报告。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892040"/>
            <a:ext cx="110642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4892040"/>
            <a:ext cx="1554480" cy="12344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50292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战略层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77240" y="5486400"/>
            <a:ext cx="109728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56235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防一言堂 / 上下文偏见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286000" y="505663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Kogami 独立战略复审 (opt-in)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286000" y="5458968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 claude -p subprocess 用相同模型隔离上下文做 "对手 / 第二意见" 复审。Charter 级 / 跨 ≥3 模块的变更建议触发。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62636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 这套治理体系本身就是产品的 "复利" — 同样的纪律在跑客户审计场景，可以 1:1 复用。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cfd-harness-unified · 立项汇报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/ 26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972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现在就能演示：端到端 8 步审计闭环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 Today · End-to-End 8-Step Audit Walkthrough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11064240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194560"/>
            <a:ext cx="269748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2377440"/>
            <a:ext cx="502920" cy="50292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17320" y="239572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 Web App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29718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SSO · 合规官身份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10712" y="2194560"/>
            <a:ext cx="269748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39312" y="2377440"/>
            <a:ext cx="502920" cy="50292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4" name="Text 12"/>
          <p:cNvSpPr/>
          <p:nvPr/>
        </p:nvSpPr>
        <p:spPr>
          <a:xfrm>
            <a:off x="3639312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279392" y="239572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Project Dashboard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39312" y="29718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案例合约状态矩阵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72784" y="2194560"/>
            <a:ext cx="269748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01384" y="2377440"/>
            <a:ext cx="502920" cy="50292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9" name="Text 17"/>
          <p:cNvSpPr/>
          <p:nvPr/>
        </p:nvSpPr>
        <p:spPr>
          <a:xfrm>
            <a:off x="6501384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141464" y="239572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钻入 DHC 案例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01384" y="29718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已知偏差案例 · Q-1 状态可见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134856" y="2194560"/>
            <a:ext cx="269748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363456" y="2377440"/>
            <a:ext cx="502920" cy="50292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4" name="Text 22"/>
          <p:cNvSpPr/>
          <p:nvPr/>
        </p:nvSpPr>
        <p:spPr>
          <a:xfrm>
            <a:off x="9363456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003536" y="239572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Validation Report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363456" y="29718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Nu=77.82 vs ref=30.0 + audit_concern 解释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3886200"/>
            <a:ext cx="269748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77240" y="4069080"/>
            <a:ext cx="502920" cy="50292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417320" y="408736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Decisions Queue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77240" y="46634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DEC-ADWM-004 + Q-1 外门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410712" y="3886200"/>
            <a:ext cx="269748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639312" y="4069080"/>
            <a:ext cx="502920" cy="50292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4" name="Text 32"/>
          <p:cNvSpPr/>
          <p:nvPr/>
        </p:nvSpPr>
        <p:spPr>
          <a:xfrm>
            <a:off x="3639312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4279392" y="408736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Audit Package 导出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639312" y="46634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一键生成签名 zip + PDF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272784" y="3886200"/>
            <a:ext cx="269748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6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501384" y="4069080"/>
            <a:ext cx="502920" cy="50292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9" name="Text 37"/>
          <p:cNvSpPr/>
          <p:nvPr/>
        </p:nvSpPr>
        <p:spPr>
          <a:xfrm>
            <a:off x="6501384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7141464" y="408736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HMAC 签名验证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501384" y="46634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公开发布的验证程序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9134856" y="3886200"/>
            <a:ext cx="269748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6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9363456" y="4069080"/>
            <a:ext cx="502920" cy="50292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44" name="Text 42"/>
          <p:cNvSpPr/>
          <p:nvPr/>
        </p:nvSpPr>
        <p:spPr>
          <a:xfrm>
            <a:off x="9363456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10003536" y="408736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Approve-for-Submit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9363456" y="46634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审核员一键签字提交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48640" y="5486400"/>
            <a:ext cx="11064240" cy="822960"/>
          </a:xfrm>
          <a:prstGeom prst="rect">
            <a:avLst/>
          </a:prstGeom>
          <a:solidFill>
            <a:srgbClr val="13243F"/>
          </a:solidFill>
          <a:ln/>
        </p:spPr>
      </p:sp>
      <p:sp>
        <p:nvSpPr>
          <p:cNvPr id="48" name="Shape 46"/>
          <p:cNvSpPr/>
          <p:nvPr/>
        </p:nvSpPr>
        <p:spPr>
          <a:xfrm>
            <a:off x="548640" y="5486400"/>
            <a:ext cx="73152" cy="82296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9" name="Text 47"/>
          <p:cNvSpPr/>
          <p:nvPr/>
        </p:nvSpPr>
        <p:spPr>
          <a:xfrm>
            <a:off x="777240" y="55778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本地启动命令：</a:t>
            </a:r>
            <a:pPr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./scripts/start-ui-dev.sh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→  </a:t>
            </a:r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http://127.0.0.1:5180/learn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(demo) 或 </a:t>
            </a:r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(审计)。可在汇报现场实机演示。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cfd-harness-unified · 立项汇报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 / 26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1828800"/>
            <a:ext cx="6400800" cy="6400800"/>
          </a:xfrm>
          <a:prstGeom prst="ellipse">
            <a:avLst/>
          </a:prstGeom>
          <a:solidFill>
            <a:srgbClr val="0F766E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0" dirty="0"/>
          </a:p>
        </p:txBody>
      </p:sp>
      <p:sp>
        <p:nvSpPr>
          <p:cNvPr id="4" name="Text 2"/>
          <p:cNvSpPr/>
          <p:nvPr/>
        </p:nvSpPr>
        <p:spPr>
          <a:xfrm>
            <a:off x="548640" y="32918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风险、路线图与资源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4114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Risks · Roadmap · Resources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4754880"/>
            <a:ext cx="1097280" cy="54864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4937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大风险 · 12 个月计划 · 团队 / 算力 / 预算请求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cfd-harness-unified · 立项汇报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 / 26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972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风险地图与缓解措施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Risk Map &amp; Mitigations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11064240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148840"/>
            <a:ext cx="1106424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148840"/>
            <a:ext cx="640080" cy="7315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1488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25880" y="222199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市场容量风险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25880" y="253288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受监管 CFD 痛点真实, 但赛道是否够 $5-10M ARR 支撑独立产品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434840" y="2194560"/>
            <a:ext cx="36576" cy="64008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224028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缓解: Phase 0–2 完成 10 个 "named buyer" 发现谈话；若 ARR &lt; $3M ARR 信号则转 "嵌入头部 CAE" 路径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990088"/>
            <a:ext cx="1106424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2990088"/>
            <a:ext cx="640080" cy="7315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990088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25880" y="306324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Build-vs-Buy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25880" y="337413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Ansys 可能在 2027–28 上线审计包功能，被巨头抄进口袋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434840" y="3035808"/>
            <a:ext cx="36576" cy="64008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0" y="3081528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缓解: 抢占类目命名 + 构建物理合约知识库 (10 案例 → 30 案例) — 知识深度比 UI 难复制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3831336"/>
            <a:ext cx="1106424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3831336"/>
            <a:ext cx="640080" cy="731520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831336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325880" y="390448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UX / 买单方风险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325880" y="421538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合规官不是 CFD 专家；UI 若暴露过多 solver 术语, 买单方不敢自决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434840" y="3877056"/>
            <a:ext cx="36576" cy="64008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0" y="3922776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缓解: Phase 5 PDF 在 1 名非 CFD 合规官处做 blind review, 不通过不发布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4672584"/>
            <a:ext cx="1106424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8640" y="4672584"/>
            <a:ext cx="64008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4672584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R4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325880" y="474573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求解器单点依赖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325880" y="50566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目前仅 OpenFOAM, 限制 Phase 5+ 物理覆盖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434840" y="4718304"/>
            <a:ext cx="36576" cy="64008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0" y="4764024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缓解: Phase 6 后引入 SU2 / code_saturne 第二执行器；MVP 阶段可接受单点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48640" y="5513832"/>
            <a:ext cx="1106424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6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48640" y="5513832"/>
            <a:ext cx="640080" cy="7315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" y="5513832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R5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325880" y="558698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 / 团队风险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325880" y="5897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目前 1 人 + AI Agent 协作交付节奏；Pilot 阶段需 sales / 法规 / 客户成功支援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434840" y="5559552"/>
            <a:ext cx="36576" cy="64008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0" y="5605272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缓解: 立项后第 1 个月配备 1-2 名工程师 + 1 名兼职法规顾问 + 1 名 BD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cfd-harness-unified · 立项汇报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 / 26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972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个月路线图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12-Month Roadmap to First Pilot Acceptance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11064240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194560"/>
            <a:ext cx="269748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194560"/>
            <a:ext cx="2697480" cy="64008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35915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Q1 (M1-M3)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29718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技术补完 + 第一客户发现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" y="3611880"/>
            <a:ext cx="365760" cy="36576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749040"/>
            <a:ext cx="2240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M7-M8 完成 (snappyHexMesh + 初学者报告)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5 审计包 PDF + HMAC 验证流程闭环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名 named compliance officer 发现谈话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Path A 第一位 stranger dogfood 招募成功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10712" y="2194560"/>
            <a:ext cx="269748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10712" y="2194560"/>
            <a:ext cx="2697480" cy="64008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5" name="Text 13"/>
          <p:cNvSpPr/>
          <p:nvPr/>
        </p:nvSpPr>
        <p:spPr>
          <a:xfrm>
            <a:off x="3639312" y="235915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Q2 (M4-M6)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39312" y="29718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Pilot 进场 · 法规验证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39312" y="3611880"/>
            <a:ext cx="365760" cy="36576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8" name="Text 16"/>
          <p:cNvSpPr/>
          <p:nvPr/>
        </p:nvSpPr>
        <p:spPr>
          <a:xfrm>
            <a:off x="3639312" y="3749040"/>
            <a:ext cx="2240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1-2 家受监管客户启动 Pilot (FDA 医疗 + 航空 Tier-2)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Notion 控制面 + SSO + SOC2 启动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案例库 10 → 20 (引入压缩 / 多相场景)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Codex / Kogami 治理流程对外文档化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72784" y="2194560"/>
            <a:ext cx="269748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72784" y="2194560"/>
            <a:ext cx="2697480" cy="6400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1" name="Text 19"/>
          <p:cNvSpPr/>
          <p:nvPr/>
        </p:nvSpPr>
        <p:spPr>
          <a:xfrm>
            <a:off x="6501384" y="235915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Q3 (M7-M9)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01384" y="29718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签约 · 第二曲线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501384" y="3611880"/>
            <a:ext cx="365760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4" name="Text 22"/>
          <p:cNvSpPr/>
          <p:nvPr/>
        </p:nvSpPr>
        <p:spPr>
          <a:xfrm>
            <a:off x="6501384" y="3749040"/>
            <a:ext cx="2240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≥1 家 Pilot 客户签约 Regulated Team 合约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Audit Package 1.0 GA · 商用版本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Copilot (LLM Agent) 接入 case 配置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招募 sales / customer success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134856" y="2194560"/>
            <a:ext cx="269748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134856" y="2194560"/>
            <a:ext cx="2697480" cy="64008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27" name="Text 25"/>
          <p:cNvSpPr/>
          <p:nvPr/>
        </p:nvSpPr>
        <p:spPr>
          <a:xfrm>
            <a:off x="9363456" y="235915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Q4 (M10-M12)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363456" y="29718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受限发布 · ARR 起量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9363456" y="3611880"/>
            <a:ext cx="365760" cy="36576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0" name="Text 28"/>
          <p:cNvSpPr/>
          <p:nvPr/>
        </p:nvSpPr>
        <p:spPr>
          <a:xfrm>
            <a:off x="9363456" y="3749040"/>
            <a:ext cx="2240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≥3 家 Regulated Team 合约 · ARR ≥ $75k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Enterprise tier 发布 (SOC2 + 私有部署)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 SU2 / code_saturne 第二执行器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下一年度规划 + 融资材料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cfd-harness-unified · 立项汇报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 / 26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972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资源请求：12 个月需要什么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Resource Ask · What I Need to Make This Real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11064240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148840"/>
            <a:ext cx="3520440" cy="4206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148840"/>
            <a:ext cx="3520440" cy="7772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26771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508760" y="23774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31089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全职工程师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335584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名 (1 后端 / 1 前端)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362102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目前: 1 人 + AI Agent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" y="38862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兼职法规顾问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413308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名 (V&amp;V40 / ASME)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439826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Q1 起 · 0.2-0.4 FTE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77240" y="46634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BD / 客户成功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491032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名 (Q2 起)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" y="517550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Pilot 进场 + 续约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77240" y="54406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合规官 advisor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" y="568756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名外部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77240" y="595274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FDA + 航空各 1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251960" y="2148840"/>
            <a:ext cx="3520440" cy="4206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251960" y="2148840"/>
            <a:ext cx="3520440" cy="77724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25" name="Text 23"/>
          <p:cNvSpPr/>
          <p:nvPr/>
        </p:nvSpPr>
        <p:spPr>
          <a:xfrm>
            <a:off x="4480560" y="226771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5212080" y="23774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算力 / 基础设施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480560" y="31089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 + OpenFOAM 集群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480560" y="335584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8-16 vCPU × 4 节点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480560" y="362102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Pilot 阶段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480560" y="38862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云端 GPU (可选)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480560" y="413308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× A100 / H100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480560" y="439826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6 AI surrogate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480560" y="46634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Notion Enterprise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480560" y="491032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工作区 · 10 席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480560" y="517550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决策落账 + 团队协作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480560" y="54406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SOC2 / 安全审计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480560" y="568756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Q3-Q4 启动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480560" y="595274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Enterprise tier 前置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955280" y="2148840"/>
            <a:ext cx="3520440" cy="4206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955280" y="2148840"/>
            <a:ext cx="3520440" cy="7772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1" name="Text 39"/>
          <p:cNvSpPr/>
          <p:nvPr/>
        </p:nvSpPr>
        <p:spPr>
          <a:xfrm>
            <a:off x="8183880" y="226771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钱</a:t>
            </a:r>
            <a:endParaRPr lang="en-US" sz="3200" dirty="0"/>
          </a:p>
        </p:txBody>
      </p:sp>
      <p:sp>
        <p:nvSpPr>
          <p:cNvPr id="42" name="Text 40"/>
          <p:cNvSpPr/>
          <p:nvPr/>
        </p:nvSpPr>
        <p:spPr>
          <a:xfrm>
            <a:off x="8915400" y="23774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个月预算估算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183880" y="31089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 (含社保福利)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183880" y="335584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 ¥240-320 万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183880" y="362102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工程师 + 0.4 顾问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183880" y="38862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 / 基础设施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183880" y="413308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 ¥ 30-50 万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8183880" y="439826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AWS / Azure + Notion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183880" y="46634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法规 / 合规咨询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8183880" y="491032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 ¥ 20-40 万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8183880" y="517550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V&amp;V40 模板审阅 + SOC2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8183880" y="54406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 / Pilot 触达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8183880" y="568756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 ¥ 20-30 万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8183880" y="595274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线下 + 行业会议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48640" y="6446520"/>
            <a:ext cx="11064240" cy="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6" name="Text 54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cfd-harness-unified · 立项汇报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 / 26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914400"/>
            <a:ext cx="5029200" cy="5029200"/>
          </a:xfrm>
          <a:prstGeom prst="ellipse">
            <a:avLst/>
          </a:prstGeom>
          <a:solidFill>
            <a:srgbClr val="0F766E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48640"/>
            <a:ext cx="164592" cy="128016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决策请求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14400" y="1188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spc="600" kern="0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 ASK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920240" y="190195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正式立项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920240" y="237744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cfd-harness-unified 从内部研究项目升格为正式产品立项 · 以 "audit-first AI-CFD" 为类目战略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10896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1920240" y="318211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 12 个月资源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920240" y="365760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全职工程师 + 0.4 法规顾问 + 1 BD/CS · ~¥320-440 万年度预算 · GPU + Notion + SOC2 启动费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438912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1920240" y="446227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下次 review 在 Q1 末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920240" y="493776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Q1 验收：Phase 5 审计包 GA + 10 名 named buyer 谈话完成 + 第 1 位 stranger dogfood 通过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4400" y="5852160"/>
            <a:ext cx="54864" cy="5029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58521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"等到 Ansys 推出审计包是 2028 年的事；那一年我们应该已经拿下了类目命名权。"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汇报人：Yagami  ·  cfd-harness-unified  ·  2026-05-10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 / 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cfd-harness-unified 立项汇报</dc:title>
  <dc:subject>PptxGenJS Presentation</dc:subject>
  <dc:creator>Yagami</dc:creator>
  <cp:lastModifiedBy>Yagami</cp:lastModifiedBy>
  <cp:revision>1</cp:revision>
  <dcterms:created xsi:type="dcterms:W3CDTF">2026-05-10T08:43:15Z</dcterms:created>
  <dcterms:modified xsi:type="dcterms:W3CDTF">2026-05-10T08:43:15Z</dcterms:modified>
</cp:coreProperties>
</file>