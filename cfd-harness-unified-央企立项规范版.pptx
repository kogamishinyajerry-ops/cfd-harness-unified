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 corrections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4E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04-12</c:v>
                  </c:pt>
                  <c:pt idx="1">
                    <c:v>04-13</c:v>
                  </c:pt>
                  <c:pt idx="2">
                    <c:v>04-14</c:v>
                  </c:pt>
                  <c:pt idx="3">
                    <c:v>04-15</c:v>
                  </c:pt>
                  <c:pt idx="4">
                    <c:v>04-16</c:v>
                  </c:pt>
                  <c:pt idx="5">
                    <c:v>04-17</c:v>
                  </c:pt>
                  <c:pt idx="6">
                    <c:v>04-18</c:v>
                  </c:pt>
                  <c:pt idx="7">
                    <c:v>04-20</c:v>
                  </c:pt>
                  <c:pt idx="8">
                    <c:v>04-21</c:v>
                  </c:pt>
                  <c:pt idx="9">
                    <c:v>04-23</c:v>
                  </c:pt>
                  <c:pt idx="10">
                    <c:v>04-24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11</c:v>
                </c:pt>
                <c:pt idx="2">
                  <c:v>22</c:v>
                </c:pt>
                <c:pt idx="3">
                  <c:v>38</c:v>
                </c:pt>
                <c:pt idx="4">
                  <c:v>12</c:v>
                </c:pt>
                <c:pt idx="5">
                  <c:v>36</c:v>
                </c:pt>
                <c:pt idx="6">
                  <c:v>4</c:v>
                </c:pt>
                <c:pt idx="7">
                  <c:v>4</c:v>
                </c:pt>
                <c:pt idx="8">
                  <c:v>27</c:v>
                </c:pt>
                <c:pt idx="9">
                  <c:v>6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4E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bubble3D val="0"/>
            <c:spPr>
              <a:solidFill>
                <a:srgbClr val="BF9000"/>
              </a:solidFill>
              <a:effectLst/>
            </c:spPr>
          </c:dPt>
          <c:dPt>
            <c:idx val="2"/>
            <c:bubble3D val="0"/>
            <c:spPr>
              <a:solidFill>
                <a:srgbClr val="BF8F00"/>
              </a:solidFill>
              <a:effectLst/>
            </c:spPr>
          </c:dPt>
          <c:dPt>
            <c:idx val="3"/>
            <c:bubble3D val="0"/>
            <c:spPr>
              <a:solidFill>
                <a:srgbClr val="1F4E79"/>
              </a:solidFill>
              <a:effectLst/>
            </c:spPr>
          </c:dPt>
          <c:dPt>
            <c:idx val="4"/>
            <c:bubble3D val="0"/>
            <c:spPr>
              <a:solidFill>
                <a:srgbClr val="8080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QUANTITY_DEVIATION (111 / 67%)</c:v>
                </c:pt>
                <c:pt idx="1">
                  <c:v>COMPARATOR_SCHEMA (27 / 16%)</c:v>
                </c:pt>
                <c:pt idx="2">
                  <c:v>PARAMETER_PLUMBING (14 / 8%)</c:v>
                </c:pt>
                <c:pt idx="3">
                  <c:v>GEOMETRY_MODEL (11 / 7%)</c:v>
                </c:pt>
                <c:pt idx="4">
                  <c:v>INSUFFICIENT_TRANSIENT (2 / 1%)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111</c:v>
                </c:pt>
                <c:pt idx="1">
                  <c:v>27</c:v>
                </c:pt>
                <c:pt idx="2">
                  <c:v>14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1F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16459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· 限项目组使用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3657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文件编号：CFD-AICFD-2026-001 · 审议稿 V1.0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64592" cy="14630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项目立项汇报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合规优先的 AI-CFD 仿真信任体系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Audit-First AI-CFD Simulation Trust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54864" cy="109728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83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服务国之重器 · 填补国产工业软件空白 · 建立行业仿真标准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对接"十四五"高性能数值模拟与工业软件攻关任务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754880"/>
            <a:ext cx="10515600" cy="146304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64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4864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48646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项目筹备组（拟挂集团数字化中心 / 仿真技术研究院）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汇报对象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51206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51206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集团领导班子 · 科技委 · 数字化转型办公室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376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5376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53766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56327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申请事项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56327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563270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 · 资源配置 · 纳入十四五重点专项预备库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58887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保密等级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58887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588873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严守信息安全 · 严守科研诚信 · 严格依规推进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40280"/>
            <a:ext cx="777240" cy="5029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212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立项必要性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560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Necessity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国家战略对接 · 行业卡脖子 · 政策窗口 · 集团主业需求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2350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P3 - P7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1247120" cy="7772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108960"/>
            <a:ext cx="777240" cy="5029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3081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项目方案与技术路线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429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 &amp; Tech Roadmap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· 国产化路径 · 技术架构 · 应用场景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32186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P8 - P15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11247120" cy="7772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977640"/>
            <a:ext cx="777240" cy="5029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3950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研发基础与已有成果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Existing Foundation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4087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案例 PASS · 165 试错 · 233 验收 · 治理体系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4087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P16 - P23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11247120" cy="7772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709160"/>
            <a:ext cx="73152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846320"/>
            <a:ext cx="777240" cy="5029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46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600200" y="4818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组织实施与保障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600200" y="5166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 · 三年里程碑 · KPI · 预算 · 风险全景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P24 - P34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5577840"/>
            <a:ext cx="73152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5715000"/>
            <a:ext cx="777240" cy="5029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5715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600200" y="5687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政治保障与决策请求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600200" y="6035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 &amp; Decision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5824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党建保障 · 数据安全 · 预期效益 · 立项请求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15600" y="5824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P35 - P38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立项必要性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371600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Necessity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一、国家战略对接 · 二、行业卡脖子现状 · 三、政策窗口 · 四、集团主业需求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 立项必要性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国家战略对接：项目响应顶层规划要求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548640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73152" cy="21031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"十四五" 国家重点研发计划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高性能数值模拟与工业软件专项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365760" cy="274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535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 CAE 软件被列为国家"卡脖子"35 项关键核心技术之一，CFD 是其中最关键子集。本项目从 V&amp;V 验证体系切入，是 CFD 工业软件自主可控的关键一环。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548640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73152" cy="21031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 "工业软件创新发展三年行动"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（2025-2027）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862072"/>
            <a:ext cx="365760" cy="274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9535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明确支持仿真验证、工业知识沉淀、行业标准制定。本项目核心产出（物理合约库、审计包标准、试错知识资产化）三项均直接对应该行动方向。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548640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23360"/>
            <a:ext cx="73152" cy="21031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国资委 "央企数字化转型三年行动"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800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强化研发数字化与工业软件自主可控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102352"/>
            <a:ext cx="365760" cy="274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937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央企承担国家工业软件突破的主体责任。本项目可作为集团数字化研发体系核心模块，并向兄弟央企输出，支撑央企整体数字化能级提升。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023360"/>
            <a:ext cx="548640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4023360"/>
            <a:ext cx="73152" cy="21031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389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国家重大工程仿真审计需求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4800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C929 / 两机专项 / 可重复使用运载火箭 / 四代核电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5102352"/>
            <a:ext cx="365760" cy="274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51937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上述工程取证 / 鉴定均要求完整的 V&amp;V 证据链。当前主要依赖人工写报告，效率低、口径不一。本项目目标是把这套证据链工程化、自动化、可追溯。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 立项必要性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行业现状：CFD 工业软件被国外垄断 · V&amp;V 标准更被锁死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CFD 工业软件市场格局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669280" cy="3657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5669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Fluent / CFX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45%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国内被列入实体清单管制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566928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35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Siemens STAR-CCM+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3035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/ 德国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0" y="3035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30358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高端工业用户深度绑定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74136"/>
            <a:ext cx="5669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198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 Fidelity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0" y="34198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3419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8%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3419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EDA 跨界 · 数据中心散热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758184"/>
            <a:ext cx="5669280" cy="3657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803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(开源)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0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英国主导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0" y="38039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12%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0" y="3803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GPL 协议有传染风险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142232"/>
            <a:ext cx="5669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187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(积鼎/天洑/云道)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28600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4187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89120" y="4187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起步期, 客户接受度低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V&amp;V 标准的三重锁死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2240280"/>
            <a:ext cx="5349240" cy="114300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5080" y="2240280"/>
            <a:ext cx="54864" cy="1143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2313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04088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标准锁死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27432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V&amp;V 40 / FDA V&amp;V40 由美国主导；中国 GB/T 仿真验证标准滞后约 5-7 年。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3520440"/>
            <a:ext cx="5349240" cy="114300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48" name="Shape 46"/>
          <p:cNvSpPr/>
          <p:nvPr/>
        </p:nvSpPr>
        <p:spPr>
          <a:xfrm>
            <a:off x="6355080" y="3520440"/>
            <a:ext cx="54864" cy="1143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3593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40880" y="3630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工具锁死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92240" y="4023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国外软件内置的 "best practices PDF + 模板"已被国外审核员视为隐式标准, 国产软件无对应版位。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4800600"/>
            <a:ext cx="5349240" cy="114300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53" name="Shape 51"/>
          <p:cNvSpPr/>
          <p:nvPr/>
        </p:nvSpPr>
        <p:spPr>
          <a:xfrm>
            <a:off x="6355080" y="4800600"/>
            <a:ext cx="54864" cy="1143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4873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040880" y="4910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数据锁死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92240" y="5303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黄金基准库（Ghia/Williamson/Ladson 等）皆来自国外文献，国内尚无成体系的 V&amp;V 参考库。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080760"/>
            <a:ext cx="11247120" cy="384048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6126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CFD 自主可控不能只做 "国产求解器"，必须同步突破 "国产 V&amp;V 标准与审计体系"，否则即便求解器跑出来, 仍要看美国标准的眼色。本项目正切此处。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 立项必要性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政策窗口：监管标准从 "理论" 走向 "强制"，时间紧迫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68880"/>
            <a:ext cx="10698480" cy="365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" y="2377440"/>
            <a:ext cx="237744" cy="237744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起草 V&amp;V40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医疗器械计算建模征求意见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81528" y="2377440"/>
            <a:ext cx="237744" cy="237744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V&amp;V40 终稿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美国生效 · Credibility 五要素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93208" y="2377440"/>
            <a:ext cx="237744" cy="237744"/>
          </a:xfrm>
          <a:prstGeom prst="ellipse">
            <a:avLst/>
          </a:prstGeom>
          <a:solidFill>
            <a:srgbClr val="385723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V&amp;V 40 航空延伸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/ AIAA 联合 · 航空 CFD 取证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04888" y="2377440"/>
            <a:ext cx="237744" cy="23774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DO-178C ML 附录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民航 ML/AI 适航首批指南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16568" y="2377440"/>
            <a:ext cx="237744" cy="23774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2026-27 中国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仿真验证 立项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全国仿真技术标委会推进中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128248" y="2377440"/>
            <a:ext cx="237744" cy="237744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27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327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国内强制实施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33272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C929/两机/核电 取证刚需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11247120" cy="9144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206240"/>
            <a:ext cx="731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国内对应监管 / 标准体系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GJB 5000A 武器装备软件研制能力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43400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CNAS 实验室认可（仿真领域）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CMA 计量认证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GB/T 33170 仿真验证（在编）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4340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CAAC AC-25-32 民机仿真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全国仿真技术标委会团标 (T/CSS-)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国内可寻址市场规模估算（限受监管行业）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8,000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40080" y="61264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航空航天 CFD 工程师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0080" y="63276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三大主机厂+航发+商飞+二三级供应商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29000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1,200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429000" y="61264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核电仿真工程师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29000" y="63276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中核 / 中广核 / 国家电投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17920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2,500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217920" y="61264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 / 海洋装备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17920" y="63276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中船集团 / 海事大学 / 设计院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006840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¥6 亿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006840" y="61264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可寻址年合规预算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06840" y="632764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¥5 万 / 工位 · 年 估算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 立项必要性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集团主业需求：四大业务线对仿真审计的真实痛点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 / 航天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型号取证要求每个 CFD 算例可追溯、可复现、可签字。当前依靠工程师手工撰写 V&amp;V 报告，每算例耗时 30-60 工时, 阻塞型号节点。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项目对接价值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 V&amp;V 从事后补材料改为事前合约 + 自动化产出审计包。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548640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 / 能源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NQA-1 / GB/T 19000 要求安全相关计算具备完整的可信度评估。仿真模型一旦上 V&amp;V 评审, 内部多部门来回需 1-3 个月。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项目对接价值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3429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需要标准化的可信度评估包 + 跨部门协同决策链。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 / 海工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800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船级社（CCS/ABS/DNV）认可日益要求仿真证据。集团各设计院仿真口径不一, 跨项目复用率 &lt; 20%。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440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项目对接价值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需要建立行业级物理合约库 + 集团内部仿真知识资产化。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02336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4023360"/>
            <a:ext cx="5486400" cy="45720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高端装备 / 汽车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4800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新能源车 / 商用车的 CAE 验证既要满足国内 GB 又要应对欧美市场。同一外形要复算多轮, 一致性管理依赖人工。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5440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项目对接价值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5669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需要可签名的审计包 + 多轮迭代的版本对比能力。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项目方案与技术路线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371600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 &amp; Technology Roadmap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 · 核心创新 · 国产化路径 · 技术架构 · 应用场景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项目定位：服务国之重器的 AI-CFD 仿真信任体系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128016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109728" cy="12801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一、项目定位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1488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OpenFOAM 自主可控合规层 + 物理合约知识库 + 自动化审计包工作台，把 CFD 仿真的 V&amp;V 验证从"事后人工补材料"升级为"事前合约 + 工程化自动产出"，服务集团及国内航空航天、核电、船舶、高端装备等关键行业的仿真取证需求。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二、三大核心理念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36576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03320"/>
            <a:ext cx="914400" cy="17830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087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合约先于求解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297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案例必须先通过 physics_contract（黄金值 / 容差 / 文献 / 前置条件 / 状态）才能跑求解器。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703320"/>
            <a:ext cx="36576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703320"/>
            <a:ext cx="914400" cy="17830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2578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证据等于副产品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4297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审计材料是仿真的副产物, 不是事后"补"出来的; 一份签名的 YAML 取代一周的 Word 文档。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3703320"/>
            <a:ext cx="36576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3703320"/>
            <a:ext cx="914400" cy="17830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0068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试错沉淀为资产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06840" y="4297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每次仿真偏差被自动记录, 写回知识库, 演化成下次仿真的前置条件 — 系统具备累积学习能力。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三、项目总目标（3 年）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建成国内首个面向受监管行业的 AI-CFD 仿真信任体系平台 · 支撑集团内部 ≥3 个重大型号取证 · 牵头制定 1-2 项行业团体标准 · 形成可复制的工业软件"自主可控 + 合规层突围"标杆。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核心创新：Physics Contract（物理合约）强制门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一、流程范式对比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486400" cy="77724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94560"/>
            <a:ext cx="73152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传统流程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案例搭建 → 求解 → 对比文献 → 写 Word → 补审计材料 (30-60 工时)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5486400" cy="77724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2194560"/>
            <a:ext cx="73152" cy="77724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我们的流程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5420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合约校验 → 通过即跑 → 自动比对 → 硬 Gate → 一键签名审计包 (分钟级)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二、Physics Contract 实例（节选）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knowledge/gold_standards/lid_driven_cavity.yaml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6858000" cy="23774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6583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case_id: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literature: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Ghia et al. 1982 J.Comp.Phys 47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ref_value:    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2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 个文献基准点]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tolerance:    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2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mesh_density &gt;= 129×129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Reynolds_number == 100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solver == simpleFoam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contract_status:  </a:t>
            </a:r>
            <a:pPr indent="0" marL="0">
              <a:buNone/>
            </a:pPr>
            <a:r>
              <a:rPr lang="en-US" sz="1100" b="1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失活则禁止运行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三、硬 Gate 强制门（洗白路径被代码堵死）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3520440"/>
            <a:ext cx="420624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520440"/>
            <a:ext cx="59436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35204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3557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tolerance_band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83880" y="3712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测量必须在文献容差带内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3950208"/>
            <a:ext cx="420624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950208"/>
            <a:ext cx="59436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9502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3880" y="3986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83880" y="41422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 &lt; 1e-5 单调收敛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379976"/>
            <a:ext cx="420624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4379976"/>
            <a:ext cx="59436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437997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83880" y="44165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mesh_precondition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83880" y="45720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网格分辨率不达标拒跑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8080" y="4809744"/>
            <a:ext cx="420624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4809744"/>
            <a:ext cx="59436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480974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83880" y="4846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physics_regime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83880" y="50017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 / 边界条件落在合约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98080" y="5239512"/>
            <a:ext cx="420624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5239512"/>
            <a:ext cx="59436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0" y="52395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83880" y="52760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comparator_match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83880" y="54315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比对算法版本一致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98080" y="5669280"/>
            <a:ext cx="4206240" cy="38404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5669280"/>
            <a:ext cx="59436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1" name="Text 49"/>
          <p:cNvSpPr/>
          <p:nvPr/>
        </p:nvSpPr>
        <p:spPr>
          <a:xfrm>
            <a:off x="7498080" y="56692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A1-A6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83880" y="57058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audit_concern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83880" y="58613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silent-PASS 风险标记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国产化替代路径：从混合模式平稳过渡到自主可控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当前依赖外部组件 → 国产替代分阶段路线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当前方案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(Y1)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(Y2)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1540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(Y3+)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求解器内核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(英国 GPL)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7640" y="2606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+ 合规壳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606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+ 国产求解器并行评估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15400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国产求解器（积鼎/航空院/航发等）替换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44368"/>
            <a:ext cx="11247120" cy="3840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90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 / 几何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29900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gmsh / snappyHexMesh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77640" y="29900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+ 合规审计层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2990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对接国产 (CAEPlus / Sinbad)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15400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国产网格引擎主用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28416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3741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大模型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3741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/ GPT 系列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77640" y="33741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 / DeepSeek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374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 + 国密合规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15400" y="3374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纯国产模型 + 行业微调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712464"/>
            <a:ext cx="11247120" cy="3840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581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 / 控制面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3758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(海外)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77640" y="3758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 / 钉钉 / 企微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3758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 OA + 自研控制面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15400" y="3758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完全自研 / 集团统一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096512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142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代码托管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03120" y="4142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(海外)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7640" y="4142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GitLab 私有 + Gitee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142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集团内 GitLab + 镜像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15400" y="4142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信创目录代码托管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480560"/>
            <a:ext cx="11247120" cy="3840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526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 / PKI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03120" y="4526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HMAC-SHA256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77640" y="4526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 SM2/SM3/SM4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9360" y="4526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国密签名 + CFCA 时间戳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91540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全链路国密 / 国家时间戳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864608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9103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103120" y="4910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/ Ubuntu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77640" y="4910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主用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09360" y="4910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/ 统信 / 欧拉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915400" y="4910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信创目录 OS + CPU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0" name="Shape 58"/>
          <p:cNvSpPr/>
          <p:nvPr/>
        </p:nvSpPr>
        <p:spPr>
          <a:xfrm>
            <a:off x="457200" y="5212080"/>
            <a:ext cx="73152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国产化承诺：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5577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 末：信创目录覆盖率 ≥ 40%（OS、协同、签名、AI 模型）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 末：覆盖率 ≥ 70%（含网格 / 几何引擎国产替代）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 末：覆盖率 ≥ 85%（求解器内核完成国产替换 / 兼容并行）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全链路国密签名（SM2/SM3/SM4）+ CFCA 时间戳认证, 满足国家信息安全等级保护要求。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技术架构：四层 + 双轨 + 国产化合规层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237744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/ Frontend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19202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/learn 教学故事流（10 案例可视化）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52360" y="19202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/pro V&amp;V 工作台（5 屏）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2860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Vite + React 18 (信创可替换)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52360" y="22860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已落地 99 个 .tsx 组件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1124712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2377440" cy="914400"/>
          </a:xfrm>
          <a:prstGeom prst="rect">
            <a:avLst/>
          </a:prstGeom>
          <a:solidFill>
            <a:srgbClr val="2C5F8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/ 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2926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FastAPI · Pydantic v2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52360" y="2926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Cases / Runs / Decisions / Audit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32918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SSE 实时事件 (Q13 Forward-Compat)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32918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已落地 61 个 Python 模块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124712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94760"/>
            <a:ext cx="2377440" cy="914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 /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39319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auto_verifier · comparator_gates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39319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convergence_attestor · audit_package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42976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Physics Contract 校验链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42976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Hard Gate G1-G5 / Audit A1-A6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1124712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800600"/>
            <a:ext cx="2377440" cy="91440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029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求解层 + 信创合规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9377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FoamAgent (OpenFOAM via Docker)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52360" y="49377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MockExecutor (CI 单元测试)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17520" y="53035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国产求解器接口（预留 / Y2-Y3 接入）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52360" y="53035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国密签名 + CFCA 时间戳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已落地代码量：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99 组件 + 后端 61 模块 + 测试 74 文件 · </a:t>
            </a:r>
            <a:pPr indent="0" marL="0">
              <a:buNone/>
            </a:pPr>
            <a:r>
              <a:rPr lang="en-US" sz="1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 anchor 案例端到端 PASS · 165 次试错沉淀 · 233 份审计报告自动产出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与国内外主要商业产品对比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Ansys/STAR-CCM+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 Fidelity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积鼎/天洑(国内)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18288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11247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0" y="2167128"/>
            <a:ext cx="3017520" cy="457200"/>
          </a:xfrm>
          <a:prstGeom prst="rect">
            <a:avLst/>
          </a:prstGeom>
          <a:solidFill>
            <a:srgbClr val="F0F8E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12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求解器物理覆盖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78240" y="22128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(聚焦窄而深)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112471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0" y="2624328"/>
            <a:ext cx="3017520" cy="45720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700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求解器速度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2670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670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78240" y="2670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(OpenFOAM)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81528"/>
            <a:ext cx="11247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0" y="3081528"/>
            <a:ext cx="3017520" cy="457200"/>
          </a:xfrm>
          <a:prstGeom prst="rect">
            <a:avLst/>
          </a:prstGeom>
          <a:solidFill>
            <a:srgbClr val="F0F8E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surrogate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127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(SimAI)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0" y="3127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78240" y="3127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 (Y2 后再考虑)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538728"/>
            <a:ext cx="112471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8" name="Shape 36"/>
          <p:cNvSpPr/>
          <p:nvPr/>
        </p:nvSpPr>
        <p:spPr>
          <a:xfrm>
            <a:off x="8686800" y="3538728"/>
            <a:ext cx="3017520" cy="45720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5844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V&amp;V 流程化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0" y="35844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模板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0" y="35844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66560" y="3584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778240" y="35844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(合约强制门)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995928"/>
            <a:ext cx="11247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686800" y="3995928"/>
            <a:ext cx="3017520" cy="457200"/>
          </a:xfrm>
          <a:prstGeom prst="rect">
            <a:avLst/>
          </a:prstGeom>
          <a:solidFill>
            <a:srgbClr val="F0F8E8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041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审计包导出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0" y="40416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(人工)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29200" y="40416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66560" y="40416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78240" y="40416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(一键签名)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453128"/>
            <a:ext cx="112471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2" name="Shape 50"/>
          <p:cNvSpPr/>
          <p:nvPr/>
        </p:nvSpPr>
        <p:spPr>
          <a:xfrm>
            <a:off x="8686800" y="4453128"/>
            <a:ext cx="3017520" cy="45720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498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 / 信创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0" y="44988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/ 受管制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29200" y="4498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766560" y="4498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78240" y="44988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(路线图明确)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910328"/>
            <a:ext cx="11247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8686800" y="4910328"/>
            <a:ext cx="3017520" cy="457200"/>
          </a:xfrm>
          <a:prstGeom prst="rect">
            <a:avLst/>
          </a:prstGeom>
          <a:solidFill>
            <a:srgbClr val="F0F8E8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9560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对接中国监管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743200" y="4956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模板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29200" y="4956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766560" y="4956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778240" y="4956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 (GB/T 团标牵头)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5367528"/>
            <a:ext cx="112471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6" name="Shape 64"/>
          <p:cNvSpPr/>
          <p:nvPr/>
        </p:nvSpPr>
        <p:spPr>
          <a:xfrm>
            <a:off x="8686800" y="5367528"/>
            <a:ext cx="3017520" cy="45720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5413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(国内)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743200" y="5413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¥ 50-200 万 / 年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029200" y="5413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¥ 80-300 万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766560" y="54132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¥ 8-30 万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778240" y="5413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 ¥ 20-50 万 / 座 / 年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3" name="Text 71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差异化定位：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我们不与国外巨头正面比物理覆盖与求解速度；唯一打 ★★★★★ 的两行（V&amp;V 流程化、审计包）正是它们都没做的，也是国产 CAE 厂商目前未触及的。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应用场景：服务集团及兄弟央企的关键业务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48640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56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0299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民用航空型号取证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潜在客户单位：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商飞 C919 / C929 · 航空工业各主机厂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365760" cy="274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典型仿真审计任务：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翼身组合体气动取证证据链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5021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起落架收放过程多体仿真审计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712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燃油系统两相流验证报告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856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0299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航发与两机专项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潜在客户单位：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航发集团 · 中科院工程热物理所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2990088"/>
            <a:ext cx="365760" cy="27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典型仿真审计任务：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291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压气机叶栅内流仿真验证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35021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燃烧室热-流耦合可信度评估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3712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涡轮叶片冷却 V&amp;V 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114800"/>
            <a:ext cx="5486400" cy="50292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87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3616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核电与四代堆研发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潜在客户单位：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4983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中核 / 中广核 / 国家电投 / CFETR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5321808"/>
            <a:ext cx="365760" cy="27432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394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典型仿真审计任务：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反应堆冷却剂回路仿真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1520" y="58338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蒸汽发生器多相流验证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1520" y="6044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应急工况 DECL CFD 审计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26480" y="41148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4114800"/>
            <a:ext cx="5486400" cy="50292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187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3616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 / 海工 / 装备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30936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潜在客户单位：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09360" y="4983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中船集团 / 哈尔滨工程大学 / 711 所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09360" y="5321808"/>
            <a:ext cx="365760" cy="27432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5394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典型仿真审计任务：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船型阻力 CFD vs 拖曳水池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00800" y="58338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螺旋桨自由液面伴流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0" y="6044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海上风电支撑结构涡激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 项目方案与技术路线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商业化路径：以行业服务为主, 不靠卖座位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365760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075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集团内部赋能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集团各业务板块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56432"/>
            <a:ext cx="365760" cy="2743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作为集团内共享 V&amp;V 服务平台, 内部 "成本结算" 模式; 第 1 年覆盖 ≥3 个业务线 / ≥10 个型号项目。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3383280" cy="365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29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预期营收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（内部不计外部营收）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18288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828800"/>
            <a:ext cx="3657600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03520" y="2075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兄弟央企 / 行业服务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航空工业 · 航发 · 中核 · 中船 · 商飞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3456432"/>
            <a:ext cx="365760" cy="27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3566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按项目交付审计包与定制化合约库, 单项目 ¥30-200 万。Y2 起承接, Y3 ≥ 5 单。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4937760"/>
            <a:ext cx="3383280" cy="365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5029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预期营收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 ≈ ¥300-500 万 / Y3 ≈ ¥1000-2000 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18288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1828800"/>
            <a:ext cx="3657600" cy="77724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052560" y="2075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标准与 IP 收益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3816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3816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中国仿真学会 / 仿真标委会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3456432"/>
            <a:ext cx="365760" cy="27432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39" name="Text 37"/>
          <p:cNvSpPr/>
          <p:nvPr/>
        </p:nvSpPr>
        <p:spPr>
          <a:xfrm>
            <a:off x="8138160" y="3566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 1-2 项行业团体标准; 通过专利授权 / 合约库使用费等, 形成被动收益; 长期产生护城河。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4937760"/>
            <a:ext cx="3383280" cy="365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1" name="Text 39"/>
          <p:cNvSpPr/>
          <p:nvPr/>
        </p:nvSpPr>
        <p:spPr>
          <a:xfrm>
            <a:off x="8138160" y="5029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预期营收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3816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（长期复利 / 护城河价值）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商业模式特征：以集团内服务建立信任 → 以行业服务沉淀知识 → 以标准 IP 形成护城河。Y3 末预期外部营收 ≥ ¥1000 万。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研发基础与已有成果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371600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Existing Foundation &amp; Achievements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已落地代码 · 真实算例 · 累积学习 · 工程治理 · 已对接进展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研发进展数字看板：均可现场 git 复核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anchor 文献基准案例 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OpenFOAM 真实求解 · 全绿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19272" y="182880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272" y="1828800"/>
            <a:ext cx="269748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2152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02152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试错累积学习记录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81344" y="182880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1828800"/>
            <a:ext cx="2697480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64224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深度审计验收报告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reports/deep_acceptance/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043416" y="182880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3416" y="1828800"/>
            <a:ext cx="2697480" cy="54864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7" name="Text 25"/>
          <p:cNvSpPr/>
          <p:nvPr/>
        </p:nvSpPr>
        <p:spPr>
          <a:xfrm>
            <a:off x="9226296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226296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用户自定义 STL 案例已跑通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6296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reports/imported_*/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49040"/>
            <a:ext cx="2697480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4008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决策落账 (DEC)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.planning/decisions/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9272" y="374904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9272" y="3749040"/>
            <a:ext cx="2697480" cy="54864"/>
          </a:xfrm>
          <a:prstGeom prst="rect">
            <a:avLst/>
          </a:prstGeom>
          <a:solidFill>
            <a:srgbClr val="2C5F8D"/>
          </a:solidFill>
          <a:ln/>
        </p:spPr>
      </p:sp>
      <p:sp>
        <p:nvSpPr>
          <p:cNvPr id="37" name="Text 35"/>
          <p:cNvSpPr/>
          <p:nvPr/>
        </p:nvSpPr>
        <p:spPr>
          <a:xfrm>
            <a:off x="3502152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3502152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代码审查报告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02152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reports/codex_tool_reports/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81344" y="374904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81344" y="3749040"/>
            <a:ext cx="2697480" cy="54864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364224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测试文件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64224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(单元+集成+dogfood)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043416" y="3749040"/>
            <a:ext cx="2697480" cy="16916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374904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9226296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61+99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9226296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 + React 组件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26296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+ ui/frontend/src/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注：以上数字均可在仓库根目录运行 git history + 文件系统命令现场复核。详见附录页 P37。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真实算例 #1：lid_driven_cavity Re=100 完整 V&amp;V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74520"/>
            <a:ext cx="5577840" cy="2743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流场云图 + 流线  ·  contour_u_magnitude.png</a:t>
            </a:r>
            <a:endParaRPr lang="en-US" sz="1000" dirty="0"/>
          </a:p>
        </p:txBody>
      </p:sp>
      <p:pic>
        <p:nvPicPr>
          <p:cNvPr id="12" name="Image 0" descr="/sessions/dreamy-clever-ritchie/mnt/outputs/img/ldc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94560"/>
            <a:ext cx="5486400" cy="17830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26480" y="1874520"/>
            <a:ext cx="5577840" cy="2743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U 中心线 vs Ghia 1982  ·  profile_u_centerline.png</a:t>
            </a:r>
            <a:endParaRPr lang="en-US" sz="1000" dirty="0"/>
          </a:p>
        </p:txBody>
      </p:sp>
      <p:pic>
        <p:nvPicPr>
          <p:cNvPr id="15" name="Image 1" descr="/sessions/dreamy-clever-ritchie/mnt/outputs/img/ldc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194560"/>
            <a:ext cx="5486400" cy="17830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4160520"/>
            <a:ext cx="5577840" cy="2743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残差收敛历史  ·  residuals.png</a:t>
            </a:r>
            <a:endParaRPr lang="en-US" sz="1000" dirty="0"/>
          </a:p>
        </p:txBody>
      </p:sp>
      <p:pic>
        <p:nvPicPr>
          <p:cNvPr id="18" name="Image 2" descr="/sessions/dreamy-clever-ritchie/mnt/outputs/img/ldc_residu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80560"/>
            <a:ext cx="5486400" cy="17830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26480" y="4160520"/>
            <a:ext cx="5577840" cy="2743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0" name="Text 15"/>
          <p:cNvSpPr/>
          <p:nvPr/>
        </p:nvSpPr>
        <p:spPr>
          <a:xfrm>
            <a:off x="626364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逐点偏差 + Gate 颜色 (11/17 PASS)  ·  pointwise_deviation.png</a:t>
            </a:r>
            <a:endParaRPr lang="en-US" sz="1000" dirty="0"/>
          </a:p>
        </p:txBody>
      </p:sp>
      <p:pic>
        <p:nvPicPr>
          <p:cNvPr id="21" name="Image 3" descr="/sessions/dreamy-clever-ritchie/mnt/outputs/img/ldc_devi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480560"/>
            <a:ext cx="5486400" cy="17830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真实算例 #2-10：9 个文献基准案例（OpenFOAM 真实求解）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11" name="Image 0" descr="/sessions/dreamy-clever-ritchie/mnt/outputs/img/cylinder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3557016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807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circular_cylinder_wake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30083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Williamson 1996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51960" y="182880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15" name="Image 1" descr="/sessions/dreamy-clever-ritchie/mnt/outputs/img/naca_con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874520"/>
            <a:ext cx="3557016" cy="914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2807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naca0012_airfoil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0" y="30083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Ladson 1988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046720" y="182880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19" name="Image 2" descr="/sessions/dreamy-clever-ritchie/mnt/outputs/img/dhc_contou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874520"/>
            <a:ext cx="3557016" cy="914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83880" y="2807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differential_heated_cavity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183880" y="300837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 Vahl Davis 1983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" y="324612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23" name="Image 3" descr="/sessions/dreamy-clever-ritchie/mnt/outputs/img/flatplate_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291840"/>
            <a:ext cx="3557016" cy="914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4360" y="42245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turbulent_flat_plate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94360" y="442569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Blasius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251960" y="324612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27" name="Image 4" descr="/sessions/dreamy-clever-ritchie/mnt/outputs/img/channel_cont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291840"/>
            <a:ext cx="3557016" cy="9144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89120" y="42245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plane_channel_flow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389120" y="442569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Moser 1999 DNS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8046720" y="324612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31" name="Image 5" descr="/sessions/dreamy-clever-ritchie/mnt/outputs/img/duct_contou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3291840"/>
            <a:ext cx="3557016" cy="9144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2245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duct_flow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8183880" y="442569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Jones 1976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457200" y="466344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35" name="Image 6" descr="/sessions/dreamy-clever-ritchie/mnt/outputs/img/jet_contou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709160"/>
            <a:ext cx="3557016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94360" y="56418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impinging_jet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594360" y="58430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Cooper 1984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4251960" y="466344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39" name="Image 7" descr="/sessions/dreamy-clever-ritchie/mnt/outputs/img/rbenard_contou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5112" y="4709160"/>
            <a:ext cx="3557016" cy="9144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389120" y="56418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rayleigh_benard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4389120" y="58430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Chaivat 2006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pic>
        <p:nvPicPr>
          <p:cNvPr id="43" name="Image 8" descr="/sessions/dreamy-clever-ritchie/mnt/outputs/img/ldc_contou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872" y="4709160"/>
            <a:ext cx="3557016" cy="91440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183880" y="56418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950" dirty="0"/>
          </a:p>
        </p:txBody>
      </p:sp>
      <p:sp>
        <p:nvSpPr>
          <p:cNvPr id="45" name="Text 34"/>
          <p:cNvSpPr/>
          <p:nvPr/>
        </p:nvSpPr>
        <p:spPr>
          <a:xfrm>
            <a:off x="8183880" y="58430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Ghia 1982 (anchor)</a:t>
            </a:r>
            <a:endParaRPr lang="en-US" sz="850" dirty="0"/>
          </a:p>
        </p:txBody>
      </p:sp>
      <p:sp>
        <p:nvSpPr>
          <p:cNvPr id="46" name="Text 35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均来自 reports/phase5_renders/&lt;case&gt;/&lt;timestamp&gt;/contour_u_magnitude.png · OpenFOAM 真实求解器输出, 非合成图</a:t>
            </a:r>
            <a:endParaRPr lang="en-US" sz="950" dirty="0"/>
          </a:p>
        </p:txBody>
      </p:sp>
      <p:sp>
        <p:nvSpPr>
          <p:cNvPr id="47" name="Shape 3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8" name="Text 3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9" name="Text 3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后处理：每次仿真自动产出可签名的审计 YAML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auto_verify_report.yaml （节选 · 来自 reports/lid_driven_cavity_benchmark/）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6858000" cy="42062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case_id: lid_driven_cavity_benchmark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</a:t>
            </a:r>
            <a:pPr indent="0" marL="0">
              <a:buNone/>
            </a:pPr>
            <a:r>
              <a:rPr lang="en-US" sz="1100" b="1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final_residual: 9e-6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gold_standard_comparison: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overall: </a:t>
            </a:r>
            <a:pPr indent="0" marL="0">
              <a:buNone/>
            </a:pPr>
            <a:r>
              <a:rPr lang="en-US" sz="1100" b="1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observable: u_centerline (16 pts vs Ghia 1982)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2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passed_within_5pct: 11/17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audit_concerns: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tag: COMPATIBLE_WITH_SILENT_PASS_HAZARD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spalding_fallback_confirmed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literature_doi: 10.1016/0021-9991(82)90058-4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commit_sha: a3f8c2d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decision_link: DEC-V61-058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signed_at: 2026-04-21T08:23:40Z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 YAML 等价于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103120"/>
            <a:ext cx="4206240" cy="42062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收敛凭证 (残差 + 终值)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16 点文献逐点偏差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容差自动判定 11/17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silent-PASS 风险标记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原文 DOI + 表号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5029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commit SHA + 决策链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5577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HMAC / 国密签名时间戳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20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累积学习：165 次试错 → 知识资产化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系统具备累积学习能力：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每一次仿真偏差被自动写入 </a:t>
            </a:r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，演化成下次仿真的前置条件、容差边界、甚至物理合约的输入字段。这是工业知识沉淀的真正含义。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每日新增 corrections 记录数（2026-04-12 → 04-24）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926080"/>
          <a:ext cx="7498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183880" y="2606040"/>
            <a:ext cx="3520440" cy="3429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6" name="Text 13"/>
          <p:cNvSpPr/>
          <p:nvPr/>
        </p:nvSpPr>
        <p:spPr>
          <a:xfrm>
            <a:off x="83210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累积成果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2104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784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总错误记录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2104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784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根因分类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2104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7840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覆盖案例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21040" y="4709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78408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活跃天数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321040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12.7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78408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日均新增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解读：04-15 / 04-17 高峰是同时跑 8 个新案例的暴露期；04-18/04-20 谷底说明前期错误已被合约固化, 不再重犯。这就是知识资产化在曲线上的可视化证据。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21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错误根因分类：自动归类并写回合约知识库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 条错误的根因分类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74320" y="210312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400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每类错误如何变成知识资产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2194560"/>
            <a:ext cx="534924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2194560"/>
            <a:ext cx="109728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2231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QUANTITY_DEVIATION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0" y="24231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修正合约的 ref_value, 加入下次回归测试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0" y="2697480"/>
            <a:ext cx="534924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697480"/>
            <a:ext cx="109728" cy="45720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2734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COMPARATOR_SCHEMA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0" y="29260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comparator schema 升版, 字段类型加固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0" y="3200400"/>
            <a:ext cx="534924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3200400"/>
            <a:ext cx="109728" cy="45720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3236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PARAMETER_PLUMBING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583680" y="34290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增加参数校验门 + 路由层错误翻译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0" y="3703320"/>
            <a:ext cx="534924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3703320"/>
            <a:ext cx="109728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739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GEOMETRY_MODEL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583680" y="39319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几何前置条件 + 网格质量检查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0" y="4206240"/>
            <a:ext cx="534924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206240"/>
            <a:ext cx="109728" cy="4572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42428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INSUFFICIENT_TRANSIENT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83680" y="44348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瞬态采样要求写进合约 preconditions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0" y="4846320"/>
            <a:ext cx="5349240" cy="14630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4" name="Text 31"/>
          <p:cNvSpPr/>
          <p:nvPr/>
        </p:nvSpPr>
        <p:spPr>
          <a:xfrm>
            <a:off x="649224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一条真实 correction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92240" y="51206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error_type:    QUANTITY_DEVIATION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wrong_output:  u_cl[0]: 0.0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E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correct_output: -0.03717  # Ghia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E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fix_action:    加密关键区域网格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needs_replay:  true  # 自动加入回归集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22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 研发基础与已有成果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工程治理：三层治理体系（决策 + 代码 + 战略）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1554480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93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423160"/>
            <a:ext cx="914400" cy="36576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420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 196 条 · Notion 双向同步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19933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决策落账 (DEC Ledger)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23957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每次非平凡变更落入编号 DEC-V61-XXX；决策点 / 替代方案 / 验收准则 / 撤销路径全记录。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124712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1554480" cy="1188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19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3749040"/>
            <a:ext cx="914400" cy="36576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67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已产出 145 份审查报告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94560" y="33192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多轮 Pre-merge 审查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3721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/ 加密 / 安全边界类变更必须先过 Codex GPT-5.4-xhigh 多轮审查，单 PR 平均 2-3 轮收敛。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4712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480560"/>
            <a:ext cx="1554480" cy="118872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6451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5074920"/>
            <a:ext cx="914400" cy="36576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193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防一言堂 / 上下文偏见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94560" y="46451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Kogami 独立战略复审 (opt-in)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94560" y="504748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claude -p subprocess 用相同模型隔离上下文做"对手 / 第二意见"复审, Charter 级别变更触发。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这套治理体系本身就是产品的复利。同样的纪律可 1:1 复用到客户的仿真审计场景, 形成 "工程组织 + 产品" 双护城河。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23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组织实施与保障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371600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 · 三年里程碑 · KPI 指标 · 经费预算 · 风险全景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24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项目组织架构：领导小组 + 执行组 + 专家委员会 + 党支部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783080"/>
            <a:ext cx="4846320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项目领导小组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194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组长：集团副总（拟）  ·  副组长：科技部 / 数字化中心负责人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成员：各业务板块技术总监 · 科技委代表 · 法务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36576" cy="36576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3017520"/>
            <a:ext cx="9006840" cy="36576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536192" y="3017520"/>
            <a:ext cx="36576" cy="27432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3017520"/>
            <a:ext cx="36576" cy="27432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43032" y="3017520"/>
            <a:ext cx="36576" cy="27432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91840"/>
            <a:ext cx="2240280" cy="26974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91840"/>
            <a:ext cx="2240280" cy="5943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375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F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牵头单位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547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项目经理 (1)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技术负责人 (1)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7914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前端工程师 (1)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175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后端工程师 (1)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5559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测试 / DevOps (0.5)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3291840"/>
            <a:ext cx="2240280" cy="26974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6048" y="3291840"/>
            <a:ext cx="2240280" cy="594360"/>
          </a:xfrm>
          <a:prstGeom prst="rect">
            <a:avLst/>
          </a:prstGeom>
          <a:solidFill>
            <a:srgbClr val="2C5F8D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33375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F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 / 行业背书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56048" y="3547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外部专家委员会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93208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院士 / 长江学者 (1-2)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93208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工业 V&amp;V 标准专家 (2)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93208" y="47914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FDA / CAAC 监管顾问 (1)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93208" y="5175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高校仿真力学教授 (2)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93208" y="5559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兄弟央企技术口对接人 (3)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64040" y="3291840"/>
            <a:ext cx="2240280" cy="26974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64040" y="3291840"/>
            <a:ext cx="2240280" cy="5943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464040" y="33375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F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政治保障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464040" y="3547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党支部 / 党建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党支部书记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0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组织委员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0" y="47914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青年理论学习组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0" y="5175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党建 + 业务双促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0" y="5559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重大节点专题学习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619963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配合单位：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集团信息中心 (网络安全) · 法务部 (IP / 合规) · 财务部 (经费 / 审计) · 人力 (招聘 / 党建) · 战略发展部 (标准化)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25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三年里程碑：分阶段达成 7 项硬指标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3703320" cy="45720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370332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 (2026)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 · 集团内试用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7157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 审计包 GA · 国密签名落地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56432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→ 20 个文献基准合约固化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69664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142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≥1 项集团内型号示范应用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882896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8554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信创目录覆盖率 ≥ 40%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59612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596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55686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通过集团网信办等保 2.0 测评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1783080"/>
            <a:ext cx="3703320" cy="45720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1783080"/>
            <a:ext cx="3703320" cy="77724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1874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第二年 (2027)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3484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走出去 · 兄弟央企应用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2743200"/>
            <a:ext cx="201168" cy="20116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27157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对外签约 ≥3 家兄弟央企 / 行业用户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3456432"/>
            <a:ext cx="201168" cy="20116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37" name="Text 35"/>
          <p:cNvSpPr/>
          <p:nvPr/>
        </p:nvSpPr>
        <p:spPr>
          <a:xfrm>
            <a:off x="443484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团体标准 1 项立项 / 1 项发布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34840" y="4169664"/>
            <a:ext cx="201168" cy="20116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43484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4142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 20 → 30 (含压缩 / 多相)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34840" y="4882896"/>
            <a:ext cx="201168" cy="20116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434840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8554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信创覆盖 ≥ 70% · 国产求解器并行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34840" y="5596128"/>
            <a:ext cx="201168" cy="20116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46" name="Text 44"/>
          <p:cNvSpPr/>
          <p:nvPr/>
        </p:nvSpPr>
        <p:spPr>
          <a:xfrm>
            <a:off x="4434840" y="5596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55686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≥ ¥300-500 万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46720" y="1783080"/>
            <a:ext cx="3703320" cy="45720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1783080"/>
            <a:ext cx="3703320" cy="77724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0" y="1874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第三年 (2028)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29600" y="2194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品牌化 · 行业标杆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2743200"/>
            <a:ext cx="201168" cy="201168"/>
          </a:xfrm>
          <a:prstGeom prst="ellipse">
            <a:avLst/>
          </a:prstGeom>
          <a:solidFill>
            <a:srgbClr val="385723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03920" y="27157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对外签约 ≥10 家 · 服务 ≥5 个重大型号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229600" y="3456432"/>
            <a:ext cx="201168" cy="201168"/>
          </a:xfrm>
          <a:prstGeom prst="ellipse">
            <a:avLst/>
          </a:prstGeom>
          <a:solidFill>
            <a:srgbClr val="385723"/>
          </a:solidFill>
          <a:ln/>
        </p:spPr>
      </p:sp>
      <p:sp>
        <p:nvSpPr>
          <p:cNvPr id="56" name="Text 54"/>
          <p:cNvSpPr/>
          <p:nvPr/>
        </p:nvSpPr>
        <p:spPr>
          <a:xfrm>
            <a:off x="822960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团体标准 ≥2 项发布 + 推动国家标准立项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229600" y="4169664"/>
            <a:ext cx="201168" cy="201168"/>
          </a:xfrm>
          <a:prstGeom prst="ellipse">
            <a:avLst/>
          </a:prstGeom>
          <a:solidFill>
            <a:srgbClr val="385723"/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0" y="4169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142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信创覆盖 ≥ 85% · 求解器内核可替换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29600" y="4882896"/>
            <a:ext cx="201168" cy="201168"/>
          </a:xfrm>
          <a:prstGeom prst="ellipse">
            <a:avLst/>
          </a:prstGeom>
          <a:solidFill>
            <a:srgbClr val="385723"/>
          </a:solidFill>
          <a:ln/>
        </p:spPr>
      </p:sp>
      <p:sp>
        <p:nvSpPr>
          <p:cNvPr id="62" name="Text 60"/>
          <p:cNvSpPr/>
          <p:nvPr/>
        </p:nvSpPr>
        <p:spPr>
          <a:xfrm>
            <a:off x="8229600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503920" y="48554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申请发明专利累计 ≥10 项 + 软著 ≥5 项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29600" y="5596128"/>
            <a:ext cx="201168" cy="201168"/>
          </a:xfrm>
          <a:prstGeom prst="ellipse">
            <a:avLst/>
          </a:prstGeom>
          <a:solidFill>
            <a:srgbClr val="385723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0" y="5596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503920" y="55686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≥ ¥1000-2000 万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26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第一年（2026）详细计划：4 个季度逐项交付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47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技术补完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M7-M8 完成 (snappyHexMesh + 初学者报告)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Phase 5 审计包 PDF / HMAC 闭环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国密签名 SM2/SM3/SM4 接入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网络安全等保 2.0 自查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8288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828800"/>
            <a:ext cx="274320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947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069080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试用进场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743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集团内 1-2 家试用单位对接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案例库扩展到 15 个 (含可压缩)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4297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外部专家委成立 (院士 + 教授)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团体标准启动调研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828800"/>
            <a:ext cx="2743200" cy="73152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947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03720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正式上线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2743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1 个示范型号正式接入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案例库扩展到 20 个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297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通过集团信息中心安全测评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申请发明专利 ≥3 项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182880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1828800"/>
            <a:ext cx="2743200" cy="73152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1947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738360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 / 复盘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0" y="2743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≥1 篇 SCI/EI 论文发表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1 项软件著作权登记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0" y="4297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1 项团体标准立项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下一年度规划 + 预算修订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 末考核硬指标：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 GA · 20 案例 · 1 个示范型号 · 1 团标立项 · 3 专利 · 1 软著 · 1 SCI · 信创 ≥40%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27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 KPI 指标表（含权重）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考核指标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 目标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 目标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1828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 目标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49840" y="18288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67128"/>
            <a:ext cx="11247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128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2212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 (个)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5780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1228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66760" y="2212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149840" y="2212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496312"/>
            <a:ext cx="11247120" cy="32918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542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11680" y="2542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信创覆盖率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57800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12280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66760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149840" y="2542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25496"/>
            <a:ext cx="11247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8712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2871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 GA / 年功能版本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7800" y="2871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12280" y="2871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66760" y="2871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149840" y="28712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154680"/>
            <a:ext cx="11247120" cy="32918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成果指标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11680" y="3200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发明专利 (累计)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57800" y="3200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12280" y="3200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66760" y="3200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149840" y="3200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483864"/>
            <a:ext cx="11247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5295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成果指标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011680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软件著作权 (累计)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57800" y="3529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12280" y="3529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66760" y="3529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149840" y="35295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3813048"/>
            <a:ext cx="11247120" cy="32918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858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成果指标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011680" y="3858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SCI/EI 论文 (累计)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257800" y="3858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12280" y="3858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366760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149840" y="3858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142232"/>
            <a:ext cx="11247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187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011680" y="4187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团体标准 (立项 / 发布)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257800" y="4187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立项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12280" y="4187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发布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36676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发布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149840" y="4187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4471416"/>
            <a:ext cx="11247120" cy="32918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4517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011680" y="45171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示范应用 (型号 / 项目)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257800" y="45171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812280" y="45171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366760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149840" y="45171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4800600"/>
            <a:ext cx="11247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4846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011680" y="4846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外部签约客户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257800" y="4846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812280" y="4846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8366760" y="4846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0149840" y="4846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7200" y="5129784"/>
            <a:ext cx="11247120" cy="32918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1" name="Text 79"/>
          <p:cNvSpPr/>
          <p:nvPr/>
        </p:nvSpPr>
        <p:spPr>
          <a:xfrm>
            <a:off x="548640" y="51755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011680" y="5175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(万元)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257800" y="5175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812280" y="5175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300+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66760" y="5175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0149840" y="51755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458968"/>
            <a:ext cx="11247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548640" y="55046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党建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011680" y="5504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党建 + 业务融合活动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5257800" y="55046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812280" y="55046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8366760" y="5504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≥6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10149840" y="55046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5788152"/>
            <a:ext cx="11247120" cy="32918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5" name="Text 93"/>
          <p:cNvSpPr/>
          <p:nvPr/>
        </p:nvSpPr>
        <p:spPr>
          <a:xfrm>
            <a:off x="548640" y="58338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011680" y="5833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 / 国密测评通过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257800" y="5833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 2.0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812280" y="5833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国密三级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8366760" y="5833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 + 国密升级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10149840" y="58338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8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注：权重总和 100%。年度考核以 ≥85% 为优秀, 70-85% 为合格, &lt; 70% 整改。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28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应用示范单位对接计划（首批 6 家）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38404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288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18288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对接单位 (拟)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96512" y="18288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182880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对接进展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62672" y="182880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 目标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948672" y="18288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Y2-Y3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67128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1284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21284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上海飞机设计研究院 (商飞)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96512" y="221284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民航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93792" y="22128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已通过专家网络初接触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62672" y="22128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个翼身组合体 V&amp;V Pilot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948672" y="221284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C929 取证级合作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715768"/>
            <a:ext cx="11247120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7614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276148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中国航发商发 (上海)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96512" y="276148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航发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93792" y="276148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已与导师团队建立联系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62672" y="276148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压气机叶栅 V&amp;V 合作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948672" y="276148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燃烧室扩大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264408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3101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" y="331012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中船 708 所 / 中船重工 702 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96512" y="33101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93792" y="331012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拟通过中国仿真学会引荐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62672" y="3310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船型阻力 vs 拖曳水池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948672" y="33101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海工 / 风电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813048"/>
            <a:ext cx="11247120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38587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7552" y="3858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中核武汉核电研究院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96512" y="38587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93792" y="38587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拟通过国内 V&amp;V 标委会引荐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62672" y="385876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冷却剂回路仿真示范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948672" y="385876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应急工况扩展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361688"/>
            <a:ext cx="11247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44074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7552" y="44074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中科院工程热物理研究所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096512" y="440740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93792" y="440740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已通过北航 / 中科院联系人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62672" y="440740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 + 标准制定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948672" y="44074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联合实验室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910328"/>
            <a:ext cx="11247120" cy="54864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" y="495604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87552" y="495604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国内主要主机厂 (商用车 / 乘用车)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096512" y="495604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93792" y="49560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拟通过 CAE 联盟引荐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662672" y="49560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车型外流场 V&amp;V 合作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948672" y="495604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电池热管理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说明：上述均为 "拟对接"，立项后由项目领导小组牵头，正式发函建立合作 MOU。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29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产学研合作与标准化工作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一、产学研合作（拟）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清华大学航院 / 工程力学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4414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PINN 方法 + V&amp;V 体系联合研究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0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北京航空航天大学流体力学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443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湍流模型 + 合约库共建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73152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上海交通大学船舶 / 航空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4472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船型阻力 + 翼型 V&amp;V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548640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03320"/>
            <a:ext cx="73152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西北工业大学航空 / 航天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高速可压缩流验证基准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06240"/>
            <a:ext cx="73152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51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哈尔滨工程大学船海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4531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海洋工程仿真合约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5486400" cy="45720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709160"/>
            <a:ext cx="73152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7548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中科院工程热物理所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9560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燃烧 / 多相联合发文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二、标准化工作与行业协会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194560"/>
            <a:ext cx="5486400" cy="457200"/>
          </a:xfrm>
          <a:prstGeom prst="rect">
            <a:avLst/>
          </a:prstGeom>
          <a:solidFill>
            <a:srgbClr val="FBE9E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194560"/>
            <a:ext cx="73152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2402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中国仿真学会 (CSS)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4414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 "AI-CFD 仿真审计包" 团体标准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2697480"/>
            <a:ext cx="5486400" cy="457200"/>
          </a:xfrm>
          <a:prstGeom prst="rect">
            <a:avLst/>
          </a:prstGeom>
          <a:solidFill>
            <a:srgbClr val="FBE9E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697480"/>
            <a:ext cx="73152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7432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CAE 联盟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29443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加入工作组 / 推动行业互认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solidFill>
            <a:srgbClr val="FBE9E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200400"/>
            <a:ext cx="73152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2461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全国仿真技术标委会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34472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 GB/T 33170 修订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solidFill>
            <a:srgbClr val="FBE9E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3703320"/>
            <a:ext cx="73152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37490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中国航空学会 / 航天学会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39502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型号取证 V&amp;V 工作组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4206240"/>
            <a:ext cx="5486400" cy="457200"/>
          </a:xfrm>
          <a:prstGeom prst="rect">
            <a:avLst/>
          </a:prstGeom>
          <a:solidFill>
            <a:srgbClr val="FBE9E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4206240"/>
            <a:ext cx="73152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4251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中国船舶 / 海洋工程学会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0" y="44531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船型 V&amp;V 标准化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17920" y="4709160"/>
            <a:ext cx="5486400" cy="457200"/>
          </a:xfrm>
          <a:prstGeom prst="rect">
            <a:avLst/>
          </a:prstGeom>
          <a:solidFill>
            <a:srgbClr val="FBE9E7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4709160"/>
            <a:ext cx="73152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47548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工业软件创新中心 (上海 / 武汉)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49560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联合实验室 / 项目对接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三、知识产权保护方案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 + 合约库结构 → 申请发明专利 (Y1: 3 / Y3: ≥10)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完整代码 → 软件著作权登记 (Y1: 1 / Y3: ≥5)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(GPL) 隔离设计：合约层完全自研, 不与 GPL 内核耦合, 避免传染风险（已规划技术架构）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对外输出物（合约库 / 审计包格式）申请国家版权登记 + 商标注册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30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经费预算（三年合计 ≈ ¥1,200 万）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288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84832" y="18288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76672" y="1828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56832" y="1828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36992" y="18288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17152" y="182880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(万元)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18541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人员经费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84832" y="218541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项目组工资+社保+绩效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76672" y="218541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218541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36992" y="218541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17152" y="21854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459736"/>
            <a:ext cx="1124712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4963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设备购置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84832" y="249631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服务器+GPU+测试机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76672" y="24963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56832" y="24963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36992" y="249631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217152" y="2496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70632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280720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/ 云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84832" y="280720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AWS/阿里云+集团内 IDC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76672" y="28072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56832" y="28072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36992" y="28072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217152" y="28072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081528"/>
            <a:ext cx="1124712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311810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 / 软件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84832" y="311810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信创替代+SaaS+许可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76672" y="3118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56832" y="3118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36992" y="3118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217152" y="311810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392424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3429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外协测试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084832" y="342900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等保+国密+第三方测评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76672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56832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36992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217152" y="342900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3703320"/>
            <a:ext cx="1124712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" y="373989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差旅 / 会议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084832" y="373989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学术+客户+行业大会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76672" y="373989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56832" y="373989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936992" y="373989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217152" y="373989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014216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40507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专家咨询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084832" y="405079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院士+顾问费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376672" y="405079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656832" y="405079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936992" y="405079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217152" y="40507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4325112"/>
            <a:ext cx="1124712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7" name="Text 65"/>
          <p:cNvSpPr/>
          <p:nvPr/>
        </p:nvSpPr>
        <p:spPr>
          <a:xfrm>
            <a:off x="530352" y="436168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标准化工作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084832" y="436168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团标 / 国标参与费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376672" y="43616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656832" y="43616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936992" y="43616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217152" y="436168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4636008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" y="46725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保护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084832" y="467258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 / 软著 / 商标 / 版权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376672" y="46725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656832" y="46725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936992" y="46725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217152" y="467258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7200" y="4946904"/>
            <a:ext cx="1124712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1" name="Text 79"/>
          <p:cNvSpPr/>
          <p:nvPr/>
        </p:nvSpPr>
        <p:spPr>
          <a:xfrm>
            <a:off x="530352" y="498348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间接费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084832" y="498348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管理费 (≈10%)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376672" y="498348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6656832" y="498348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936992" y="498348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9217152" y="4983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257800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" y="529437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不可预见费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084832" y="52943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5%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5376672" y="529437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656832" y="529437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936992" y="529437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9217152" y="529437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5568696"/>
            <a:ext cx="11247120" cy="3108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5" name="Text 93"/>
          <p:cNvSpPr/>
          <p:nvPr/>
        </p:nvSpPr>
        <p:spPr>
          <a:xfrm>
            <a:off x="530352" y="560527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(万)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084832" y="560527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376672" y="560527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410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656832" y="560527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465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936992" y="560527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530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217152" y="56052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1,405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经费来源建议：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集团自筹 60% (≈¥720 万) + 申请省部级 / 国家专项 30% (≈¥360 万) + 客户合作横向 10% (≈¥120 万)。具体比例由领导小组核定。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4" name="Text 102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31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风险全景图（10 项）+ 缓解措施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02920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3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政策合规风险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0756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数据出境 / 网络安全等保 / 国密合规要求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3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Y1 完成等保 2.0 + 国密三级；专人负责合规审计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502920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83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084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数据安全风险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0756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客户仿真模型涉敏 / 几何 IP / 算例数据流转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23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私有化部署 + 国密签名 + 全链路审计日志 + 物理隔离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97480"/>
            <a:ext cx="502920" cy="86868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697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2743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国产化风险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GPL 协议传染 / 信创目录覆盖不足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3246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合约层完全自研隔离 GPL · 路线图明确 (40→70→85%)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6974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697480"/>
            <a:ext cx="502920" cy="86868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697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2743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知识产权风险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对外发布的算法 / 合约库被抄袭 / 反向工程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20840" y="3246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Y1 申请 ≥3 项专利 + 软著 + 商标; 关键模块本地化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6118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611880"/>
            <a:ext cx="502920" cy="86868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611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" y="3657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人才流失风险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1560" y="39044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团队骨干被互联网 / 民营科技公司挖角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1560" y="41605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股权激励 / 项目分红 / 党建凝心 / 院校联合培养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36118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3611880"/>
            <a:ext cx="502920" cy="86868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3611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20840" y="3657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市场容量风险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39044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受监管 CFD 痛点真实但市场规模待验证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20840" y="41605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Y1 完成 6 家用户接触 / 信号不足转向集团内深耕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5262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526280"/>
            <a:ext cx="502920" cy="86868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526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4937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51560" y="4572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技术路径风险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51560" y="4818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单点依赖 / 物理覆盖受限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1560" y="50749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Y2 后引入国产求解器 / SU2 / code_saturne 多执行器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45262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6480" y="4526280"/>
            <a:ext cx="502920" cy="86868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61" name="Text 59"/>
          <p:cNvSpPr/>
          <p:nvPr/>
        </p:nvSpPr>
        <p:spPr>
          <a:xfrm>
            <a:off x="6126480" y="4526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26480" y="4937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720840" y="4572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进度延期风险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720840" y="4818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团队从 1 人扩到 5 人 onboarding 拖延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20840" y="50749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Y1 Q1-Q2 留出 onboarding 缓冲期; 院校联合招聘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4406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5440680"/>
            <a:ext cx="502920" cy="86868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5440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R9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5852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51560" y="5486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竞争对手风险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51560" y="57332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2027-28 推审计包 / 国内厂商抢身位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5156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时间窗 2 年 / 抢类目命名权 / 知识库深度护城河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5440680"/>
            <a:ext cx="5486400" cy="868680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26480" y="5440680"/>
            <a:ext cx="502920" cy="868680"/>
          </a:xfrm>
          <a:prstGeom prst="rect">
            <a:avLst/>
          </a:prstGeom>
          <a:solidFill>
            <a:srgbClr val="BF8F00"/>
          </a:solidFill>
          <a:ln/>
        </p:spPr>
      </p:sp>
      <p:sp>
        <p:nvSpPr>
          <p:cNvPr id="75" name="Text 73"/>
          <p:cNvSpPr/>
          <p:nvPr/>
        </p:nvSpPr>
        <p:spPr>
          <a:xfrm>
            <a:off x="6126480" y="5440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126480" y="5852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720840" y="5486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外部对接风险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720840" y="57332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兄弟央企对接节奏依赖外部决策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72084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57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通过专家委员会 + 行业协会 + 标委会三轨推进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81" name="Text 79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32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网络安全与数据合规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3657600" cy="41148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3657600" cy="8686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等级保护 2.0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通过集团信息中心等保 2.0 三级测评 (Y1)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物理 / 网络 / 主机 / 应用 / 数据五位安全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等保整改 + 第三方测评机构出具报告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年度复测 · 持续监控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783080"/>
            <a:ext cx="3657600" cy="41148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783080"/>
            <a:ext cx="3657600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国密合规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SM2/SM3/SM4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全链路国密 SM2 数字签名替换 HMAC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SM3 哈希校验 / SM4 数据加密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对接 CFCA 国家时间戳认证服务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Y2 通过国密三级 / Y3 升级至四级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1783080"/>
            <a:ext cx="3657600" cy="411480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783080"/>
            <a:ext cx="3657600" cy="86868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381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E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客户仿真模型不出客户局域网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合约库与客户算例物理隔离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全链路审计日志 (含运维操作)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816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对接集团 SOC 中心 7×24 监控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数据合规承诺：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本项目所有客户数据严格遵守 《数据安全法》《网络安全法》《个人信息保护法》及行业管理办法; 客户拥有数据完全所有权, 公司仅提供工具与服务。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33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 组织实施与保障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党建保障：以高质量党建引领高质量项目推进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109728" cy="640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项目筹备阶段即同步成立党支部，确保党的领导贯穿项目全过程，保证项目方向与国家战略、集团战略同频同向。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864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06040"/>
            <a:ext cx="914400" cy="1783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08760" y="2770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组织建设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成立项目党支部 (Y1 Q1)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3447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三会一课 + 主题党日制度化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7398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至少 1 名书记 + 2 名委员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4032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党员发展规划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54864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606040"/>
            <a:ext cx="914400" cy="1783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178040" y="2770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理论学习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围绕"科技自立自强"专题学习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447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二十大精神 + 工业软件政策学习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37398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每季度至少 2 次集中学习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4032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党员领学 + 业务专家讲党课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54864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80560"/>
            <a:ext cx="914400" cy="1783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83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508760" y="4645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党建+业务融合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08760" y="5029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重大节点设党员先锋岗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08760" y="5321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技术攻坚成立党员突击队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08760" y="56144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党员领办年度重点指标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08760" y="5907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党建成果纳入年度考核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480560"/>
            <a:ext cx="5486400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4480560"/>
            <a:ext cx="914400" cy="1783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4983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178040" y="4645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队伍建设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78040" y="5029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党员骨干梯队培养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78040" y="5321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青年理论学习小组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56144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高校党组织共建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5907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服务国家战略主题宣讲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34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预期效益与决策请求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371600" cy="54864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Expected Benefits &amp; Decision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社会效益 · 经济效益 · 行业影响 · 立项决策请求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35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 预期效益与决策请求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预期效益：社会效益 + 经济效益 + 行业影响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3657600" cy="42976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3657600" cy="914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476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 / 战略效益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填补国产 CFD V&amp;V 标准空白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4838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支撑国之重器（C929/两机/核电）取证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87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形成可复制的工业软件"自主可控+合规层突围"标杆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908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牵头制定 ≥2 项行业团体标准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294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服务国家科技自立自强战略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1783080"/>
            <a:ext cx="3657600" cy="42976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783080"/>
            <a:ext cx="3657600" cy="914400"/>
          </a:xfrm>
          <a:prstGeom prst="rect">
            <a:avLst/>
          </a:prstGeom>
          <a:solidFill>
            <a:srgbClr val="385723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19476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12064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经济效益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28803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Y3 末外部营收 ¥1000-2000 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4838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集团内节省人工 V&amp;V 工时 ≈ ¥3000 万 / 年 (按 3000 算例×30h×$200/h)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4087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Y3 末累计自有 IP 资产估值 ≈ ¥5000 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46908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与外部签约客户 ≥10 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5294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集团内仿真知识资产化, 可跨项目复用率 ↑ 60%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1783080"/>
            <a:ext cx="3657600" cy="42976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783080"/>
            <a:ext cx="36576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19476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86968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行业影响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28803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Y3 末知名度进入国内 CAE 前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8160" y="34838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成为中国仿真学会 CAE 联盟核心成员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38160" y="4087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向 ≥3 家兄弟央企输出系统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0" y="46908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至少 1 项标准被纳入 GB/T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5294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国际学术会议 (ASME/AIAA) 主题演讲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263640"/>
            <a:ext cx="11247120" cy="16459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36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 预期效益与决策请求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立项决策请求：恳请审议批准三项事宜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1280160" cy="12344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874520" y="19933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23957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cfd-harness-unified 列入集团 2026 年度科技重点项目清单 / 数字化转型重点专项；明确以"audit-first AI-CFD 仿真信任体系"为类目战略定位。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247120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280160" cy="12344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874520" y="33649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配置三年资源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74520" y="37673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个月预算 ≈ ¥410 万 / 三年合计 ≈ ¥1,405 万；批准设立项目组 (5 人) + 党支部；批复申请加入十四五重点研发计划 / 工信部专项预备库。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11247120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572000"/>
            <a:ext cx="1280160" cy="12344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548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1874520" y="47365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授权领导小组运作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74520" y="5138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授权项目领导小组（集团副总挂帅）独立运作；成立外部专家委员会；批复对接集团内 ≥3 家业务板块及 ≥6 家外部应用示范单位。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19963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F9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汇报完毕，恳请集团领导班子、科技委、数字化转型办公室予以审议。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37 页 / 共 38 页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61520" cy="36576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 ·  合规优先的 AI-CFD 工作台立项汇报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 数据取证清单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9144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数据取证清单：所有数字均可在仓库现场复核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8308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knowledge/gold_standards/*.yaml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9397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knowledge/gold_standards/*.yaml | wc -l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8308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knowledge/corrections/*.yaml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09397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knowledge/corrections/*.yaml | wc -l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2316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68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reports/phase5_renders/**/*.png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reports/phase5_renders -name '*.png' | wc -l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42316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42316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468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reports/deep_acceptance/*.{html,md}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7340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reports/deep_acceptance/ | wc -l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0116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reports/imported_*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33741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-d reports/imported_* | wc -l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306324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306324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8096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.planning/decisions/*.md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3741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.planning/decisions/*.md | wc -l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70332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0116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reports/codex_tool_reports/*.md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40142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reports/codex_tool_reports/*.md | wc -l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370332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370332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68096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tests/test_*.py + ui/backend/tests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40142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tests/ -name 'test_*.py' | wc -l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434340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34340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01168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src/**/*.py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4360" y="46542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src/ -name '*.py' | wc -l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26480" y="4343400"/>
            <a:ext cx="5486400" cy="566928"/>
          </a:xfrm>
          <a:prstGeom prst="rect">
            <a:avLst/>
          </a:prstGeom>
          <a:solidFill>
            <a:srgbClr val="F0F0F0"/>
          </a:solidFill>
          <a:ln w="3810">
            <a:solidFill>
              <a:srgbClr val="BFBF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0" y="4343400"/>
            <a:ext cx="54864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68096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ui/frontend/src/**/*.tsx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63640" y="46542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ui/frontend -name '*.tsx' | wc -l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审议复核：</a:t>
            </a:r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请评审专家在仓库根目录运行任意一行命令，即可现场复核 PPT 中各项数字。本汇报承诺：所有数据来自真实代码仓库, 不存在 PPT 注水。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内部资料  ·  限项目组使用  ·  审议稿 V1.0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87552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38 页 / 共 38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cfd-harness-unified · 央企立项规范版</dc:title>
  <dc:subject>PptxGenJS Presentation</dc:subject>
  <dc:creator>项目筹备组</dc:creator>
  <cp:lastModifiedBy>项目筹备组</cp:lastModifiedBy>
  <cp:revision>1</cp:revision>
  <dcterms:created xsi:type="dcterms:W3CDTF">2026-05-10T09:37:22Z</dcterms:created>
  <dcterms:modified xsi:type="dcterms:W3CDTF">2026-05-10T09:37:22Z</dcterms:modified>
</cp:coreProperties>
</file>