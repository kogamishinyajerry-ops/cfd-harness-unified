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1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2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 corrections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04-12</c:v>
                  </c:pt>
                  <c:pt idx="1">
                    <c:v>04-13</c:v>
                  </c:pt>
                  <c:pt idx="2">
                    <c:v>04-14</c:v>
                  </c:pt>
                  <c:pt idx="3">
                    <c:v>04-15</c:v>
                  </c:pt>
                  <c:pt idx="4">
                    <c:v>04-16</c:v>
                  </c:pt>
                  <c:pt idx="5">
                    <c:v>04-17</c:v>
                  </c:pt>
                  <c:pt idx="6">
                    <c:v>04-18</c:v>
                  </c:pt>
                  <c:pt idx="7">
                    <c:v>04-20</c:v>
                  </c:pt>
                  <c:pt idx="8">
                    <c:v>04-21</c:v>
                  </c:pt>
                  <c:pt idx="9">
                    <c:v>04-23</c:v>
                  </c:pt>
                  <c:pt idx="10">
                    <c:v>04-24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11</c:v>
                </c:pt>
                <c:pt idx="2">
                  <c:v>22</c:v>
                </c:pt>
                <c:pt idx="3">
                  <c:v>38</c:v>
                </c:pt>
                <c:pt idx="4">
                  <c:v>12</c:v>
                </c:pt>
                <c:pt idx="5">
                  <c:v>36</c:v>
                </c:pt>
                <c:pt idx="6">
                  <c:v>4</c:v>
                </c:pt>
                <c:pt idx="7">
                  <c:v>4</c:v>
                </c:pt>
                <c:pt idx="8">
                  <c:v>27</c:v>
                </c:pt>
                <c:pt idx="9">
                  <c:v>6</c:v>
                </c:pt>
                <c:pt idx="1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C8A961"/>
              </a:solidFill>
              <a:effectLst/>
            </c:spPr>
          </c:dPt>
          <c:dPt>
            <c:idx val="2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QUANTITY_DEVIATION (111)</c:v>
                </c:pt>
                <c:pt idx="1">
                  <c:v>COMPARATOR_SCHEMA (27)</c:v>
                </c:pt>
                <c:pt idx="2">
                  <c:v>PARAMETER_PLUMBING (14)</c:v>
                </c:pt>
                <c:pt idx="3">
                  <c:v>GEOMETRY_MODEL (11)</c:v>
                </c:pt>
                <c:pt idx="4">
                  <c:v>INSUFFICIENT_TRANSIENT (2)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111</c:v>
                </c:pt>
                <c:pt idx="1">
                  <c:v>27</c:v>
                </c:pt>
                <c:pt idx="2">
                  <c:v>14</c:v>
                </c:pt>
                <c:pt idx="3">
                  <c:v>11</c:v>
                </c:pt>
                <c:pt idx="4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A0A0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3246120"/>
            <a:ext cx="2103120" cy="36576"/>
          </a:xfrm>
          <a:prstGeom prst="rect">
            <a:avLst/>
          </a:prstGeom>
          <a:solidFill>
            <a:srgbClr val="C8A9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200" kern="0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AUDIT-FIRST  AI-CFD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一个赌注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 on trust, not speed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受监管行业的 CFD 工程师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每跑完一个验证算例，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要花 30 小时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补审计材料。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不是因为算错了。</a:t>
            </a:r>
            <a:endParaRPr lang="en-US" sz="6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仿真是对的。</a:t>
            </a:r>
            <a:endParaRPr lang="en-US" sz="8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"证明它是对的"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要花一周。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rgbClr val="C8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9601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仿真早上跑完。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下午开始：在 Word 里画表，去翻 1982 年的论文找原始数据，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截 5 张 ParaView 截图，写邮件请教组长 "这个容差是哪来的"，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找之前的 commit hash，找上次会议记录，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…等审核员问完一轮，已经是周五。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5852160"/>
            <a:ext cx="365760" cy="36576"/>
          </a:xfrm>
          <a:prstGeom prst="rect">
            <a:avLst/>
          </a:prstGeom>
          <a:solidFill>
            <a:srgbClr val="C8A961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一位航空 CFD 工程师 · 2026 年 4 月内部访谈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把它换算成钱：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h  ×  $200 / h  ×  50 算例 / 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$300,000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工程师 / 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一个工程师 30% 的年薪在 "证明对的事是对的"。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CFD 行业的隐形税。</a:t>
            </a:r>
            <a:endParaRPr lang="en-US" sz="5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整个行业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都在解决同一个问题。</a:t>
            </a:r>
            <a:endParaRPr lang="en-US" sz="5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PhysicsNeMo · 押注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</a:t>
            </a:r>
            <a:endParaRPr lang="en-US" sz="8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Concept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Geo-CNN 几何 surrogate · 押注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</a:t>
            </a:r>
            <a:endParaRPr lang="en-US" sz="8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Luminary Cloud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SHIFT · SHIFT-Crash · 押注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</a:t>
            </a:r>
            <a:endParaRPr lang="en-US" sz="8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SimAI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CAE 巨头 + AI · 押注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</a:t>
            </a:r>
            <a:endParaRPr lang="en-US" sz="8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  更快  更快  更快  更快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  更快  更快  更快  更快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4480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  更快  更快  更快  更快</a:t>
            </a:r>
            <a:endParaRPr lang="en-US" sz="5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</a:t>
            </a:r>
            <a:endParaRPr lang="en-US" sz="20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解决不了那 30 个小时。</a:t>
            </a:r>
            <a:endParaRPr lang="en-US" sz="6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 30 个小时是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找文献基准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对齐容差来源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拼接证据链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"确实是这套参数"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"网格是足够的"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"这次的版本和上次一致"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"算"。是 "信任"。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没人在解决信任。</a:t>
            </a:r>
            <a:endParaRPr lang="en-US" sz="8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我们的赌注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contrarian bet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"证明对" 不是事后干的活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而是事前的合约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会怎样？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 Contract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Report</a:t>
            </a:r>
            <a:endParaRPr lang="en-US" sz="6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黄金值, 出处必须明确。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容差, 文献必须支撑。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前置条件不达标 — 拒跑。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这不是流程改良。这是契约。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knowledge/gold_standards/lid_driven_cavity.yaml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9418320" cy="5029200"/>
          </a:xfrm>
          <a:prstGeom prst="rect">
            <a:avLst/>
          </a:prstGeom>
          <a:solidFill>
            <a:srgbClr val="12121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280160"/>
            <a:ext cx="8869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case_id:        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literature:     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Ghia 1982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ref_value:       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[16 个文献基准点]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tolerance:       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preconditions: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mesh &gt;= 129x129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 == 100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contract_status:  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 30 行的 YAML，替代 30 小时的 Word 文档。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小时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852160" y="210312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309360" y="2103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小时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(因为审计材料是仿真的副产品, 不是 "补" 出来的)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Audit Package 一键签名导出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听起来像 PPT。</a:t>
            </a:r>
            <a:endParaRPr lang="en-US" sz="7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但其实——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它已经在跑了。</a:t>
            </a:r>
            <a:endParaRPr lang="en-US" sz="6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看证据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from the repo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  ·  Re=100</a:t>
            </a:r>
            <a:endParaRPr lang="en-US" sz="1400" dirty="0"/>
          </a:p>
        </p:txBody>
      </p:sp>
      <p:pic>
        <p:nvPicPr>
          <p:cNvPr id="3" name="Image 0" descr="/sessions/dreamy-clever-ritchie/mnt/outputs/img/ldc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914400"/>
            <a:ext cx="914400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simpleFoam · 真实求解器输出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我们的代码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真的在跑 OpenFOAM。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mock。</a:t>
            </a:r>
            <a:endParaRPr lang="en-US" sz="4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Ghia 1982 文献基准对齐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U-中心线速度剖面 · 16 个文献参考点</a:t>
            </a:r>
            <a:endParaRPr lang="en-US" sz="1300" dirty="0"/>
          </a:p>
        </p:txBody>
      </p:sp>
      <p:pic>
        <p:nvPicPr>
          <p:cNvPr id="4" name="Image 0" descr="/sessions/dreamy-clever-ritchie/mnt/outputs/img/ldc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4173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残差收敛 · 5 个数量级单调下降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· Uy · p 三个变量同时收敛到 1e-5</a:t>
            </a:r>
            <a:endParaRPr lang="en-US" sz="1300" dirty="0"/>
          </a:p>
        </p:txBody>
      </p:sp>
      <p:pic>
        <p:nvPicPr>
          <p:cNvPr id="4" name="Image 0" descr="/sessions/dreamy-clever-ritchie/mnt/outputs/img/ldc_residu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4173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逐点偏差 · 自动 PASS / FAIL 判定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= 在 5% 容差内 · 黄 = 边界 · 红 = 失败</a:t>
            </a:r>
            <a:endParaRPr lang="en-US" sz="1300" dirty="0"/>
          </a:p>
        </p:txBody>
      </p:sp>
      <p:pic>
        <p:nvPicPr>
          <p:cNvPr id="4" name="Image 0" descr="/sessions/dreamy-clever-ritchie/mnt/outputs/img/ldc_dev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4173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852160" y="1371600"/>
            <a:ext cx="457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6309360" y="13716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通过文献容差带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不达标的 6 个 — 系统会显式标记 audit_concern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这只是 1 个案例。</a:t>
            </a:r>
            <a:endParaRPr lang="en-US" sz="7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我们跑了 10 个。</a:t>
            </a:r>
            <a:endParaRPr lang="en-US" sz="9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个文献基准案例 · 全部 OpenFOAM 真实求解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4" name="Image 0" descr="/sessions/dreamy-clever-ritchie/mnt/outputs/img/ldc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960120"/>
            <a:ext cx="3511296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85800" y="2103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Ghia 1982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15968" y="9144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8" name="Image 1" descr="/sessions/dreamy-clever-ritchie/mnt/outputs/img/cylinder_cont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60120"/>
            <a:ext cx="3511296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circular_cylinder_wake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453128" y="2103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Williamson 1996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083296" y="9144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12" name="Image 2" descr="/sessions/dreamy-clever-ritchie/mnt/outputs/img/naca_contou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960120"/>
            <a:ext cx="3511296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0456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naca0012_airfoil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220456" y="2103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Ladson 1988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48640" y="242316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16" name="Image 3" descr="/sessions/dreamy-clever-ritchie/mnt/outputs/img/dhc_cont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468880"/>
            <a:ext cx="3511296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" y="3419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differential_heated_cavity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85800" y="3611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 Vahl Davis 1983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315968" y="242316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20" name="Image 4" descr="/sessions/dreamy-clever-ritchie/mnt/outputs/img/flatplate_contou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468880"/>
            <a:ext cx="3511296" cy="914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53128" y="3419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turbulent_flat_plate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453128" y="3611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Blasius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8083296" y="242316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24" name="Image 5" descr="/sessions/dreamy-clever-ritchie/mnt/outputs/img/channel_contou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2468880"/>
            <a:ext cx="3511296" cy="914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20456" y="3419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plane_channel_flow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8220456" y="3611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Moser 1999 DNS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548640" y="393192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28" name="Image 6" descr="/sessions/dreamy-clever-ritchie/mnt/outputs/img/duct_contou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977640"/>
            <a:ext cx="3511296" cy="9144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5800" y="49286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duct_flow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685800" y="5120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Jones 1976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4315968" y="393192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32" name="Image 7" descr="/sessions/dreamy-clever-ritchie/mnt/outputs/img/jet_contou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977640"/>
            <a:ext cx="3511296" cy="9144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53128" y="49286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impinging_jet</a:t>
            </a:r>
            <a:endParaRPr lang="en-US" sz="950" dirty="0"/>
          </a:p>
        </p:txBody>
      </p:sp>
      <p:sp>
        <p:nvSpPr>
          <p:cNvPr id="34" name="Text 24"/>
          <p:cNvSpPr/>
          <p:nvPr/>
        </p:nvSpPr>
        <p:spPr>
          <a:xfrm>
            <a:off x="4453128" y="5120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Cooper 1984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8083296" y="393192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36" name="Image 8" descr="/sessions/dreamy-clever-ritchie/mnt/outputs/img/rbenard_contou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6448" y="3977640"/>
            <a:ext cx="3511296" cy="9144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220456" y="49286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rayleigh_benard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8220456" y="5120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Chaivat 2006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anchor 案例端到端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OpenFOAM. Real solver. Real residuals. Real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每跑完一次,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自动产出一份审计 YAML。</a:t>
            </a:r>
            <a:endParaRPr lang="en-US" sz="4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reports/lid_driven_cavity_benchmark/auto_verify_report.yaml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10332720" cy="5120640"/>
          </a:xfrm>
          <a:prstGeom prst="rect">
            <a:avLst/>
          </a:prstGeom>
          <a:solidFill>
            <a:srgbClr val="12121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9784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case_id: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lid_driven_cavity_benchmark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final_residual: 9e-6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gold_standard_comparison: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overall: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observable: u_centerline (16 ref points)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passed_within_5pct: 11/17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audit_concerns: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tag: COMPATIBLE_WITH_SILENT_PASS_HAZARD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spalding_fallback_confirmed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literature_doi: 10.1016/0021-9991(82)90058-4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commit_sha:    a3f8c2d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decision_link: DEC-V61-058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signed_at:     2026-04-21T08:23:40Z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这一份 YAML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等价于一周的 Word 文档。</a:t>
            </a:r>
            <a:endParaRPr lang="en-US" sz="4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 auto_verify_report.yaml 包含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收敛凭证 (残差曲线日志 + 终值)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16 个文献基准点逐点偏差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5% 容差判定: 11/17 PASS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3246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silent-PASS 风险显式标记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原文 DOI + 表号 + 列号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commit SHA + 决策链接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0" y="5029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HMAC-SHA256 时间戳签名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审核员一个文件就能复核。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份审计验收报告已自动产出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reports/deep_acceptance/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个外部用户的 STL 案例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已经端到端跑过这套流程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imported_2026-05-07T10-16-54Z_3f9dd6a7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34015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imported_2026-05-07T10-27-03Z_1e6fcecf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36941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imported_2026-05-07T10-50-06Z_b4ff4031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39867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imported_2026-05-07T12-00-06Z_9aa09191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4279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imported_2026-05-07T12-03-02Z_61442510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4572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imported_2026-05-07T12-05-54Z_8ef4aa5f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48646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imported_2026-05-07T12-06-26Z_b440a05b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15721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imported_2026-05-07T12-19-03Z_8960cabd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demo. 是 stranger 在外面真的用过。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但最重要的是——</a:t>
            </a:r>
            <a:endParaRPr lang="en-US" sz="6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这个系统</a:t>
            </a:r>
            <a:endParaRPr lang="en-US" sz="9600" dirty="0"/>
          </a:p>
          <a:p>
            <a:pPr algn="ctr" indent="0" marL="0">
              <a:buNone/>
            </a:pPr>
            <a:r>
              <a:rPr lang="en-US" sz="9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会学习。</a:t>
            </a:r>
            <a:endParaRPr lang="en-US" sz="9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次错误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被自动记录、归类、写回知识库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每天新增的错误记录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knowledge/corrections/*.yaml · 2026-04-12 → 04-24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554480"/>
          <a:ext cx="10332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注意：04-18 / 04-20 的低谷 — 那不是没跑仿真，是错误被合约固化了，不再重犯。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 条错误的根因分类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188720"/>
          <a:ext cx="65836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每类错误都会变成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0" y="2468880"/>
            <a:ext cx="1371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合约的 ref_value 修正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72400" y="2971800"/>
            <a:ext cx="137160" cy="365760"/>
          </a:xfrm>
          <a:prstGeom prst="rect">
            <a:avLst/>
          </a:prstGeom>
          <a:solidFill>
            <a:srgbClr val="C8A961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comparator schema 升版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0" y="3474720"/>
            <a:ext cx="137160" cy="3657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parameter 校验门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0" y="3977640"/>
            <a:ext cx="1371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几何前置条件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0" y="4480560"/>
            <a:ext cx="13716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瞬态采样要求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knowledge/corrections/...lid-driven_cavity_QUANTITY_DEVIATION.yaml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10332720" cy="5120640"/>
          </a:xfrm>
          <a:prstGeom prst="rect">
            <a:avLst/>
          </a:prstGeom>
          <a:solidFill>
            <a:srgbClr val="12121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9784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error_type:  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QUANTITY_DEVIATION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wrong_output: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u_centerline[0]:  0.0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u_centerline[1]:  -0.037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correct_output: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u_centerline[0]: -0.03717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Ghia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u_centerline[1]: -0.04192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Ghia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root_cause: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关键物理量偏离参考值，可能原因: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网格分辨率不足或湍流模型不当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fix_action:    </a:t>
            </a:r>
            <a:pPr indent="0" marL="0">
              <a:buNone/>
            </a:pPr>
            <a:r>
              <a:rPr lang="en-US" sz="14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加密关键区域网格，重新运行并对比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needs_replay: 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自动加入下次回归测试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不是损失。</a:t>
            </a:r>
            <a:endParaRPr lang="en-US" sz="8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资本。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Errors. As. Capital.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每犯一次错，下次更难再犯一次同样的错。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时间是我们的朋友。</a:t>
            </a:r>
            <a:endParaRPr lang="en-US" sz="6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1 · 100 个错误 → 100 条合约规则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2 · 错误率掉一半 → 知识翻倍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3 · 系统能教会新员工 (合约 = 教科书)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5 · 我们的合约库 = 最大的商业护城河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可以抄 UI。但 5 年的错误学习记录, 没有捷径。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为什么是现在？</a:t>
            </a:r>
            <a:endParaRPr lang="en-US" sz="8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终稿 V&amp;V40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医疗器械计算建模与仿真 · 监管标准生效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V&amp;V 40 航空延伸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/ AIAA 联合制定 · 航空 CFD 取证标准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DO-178C ML/AI 附录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民用航空 ML 适航 · 首批审定指南成熟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强制实施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受理仅接受 V&amp;V40 合规材料的医疗仿真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我们有 2 年。</a:t>
            </a:r>
            <a:endParaRPr lang="en-US" sz="10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市场大小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12,000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303520" y="19385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受监管医疗仿真团队 (美国)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25,000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299008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航空航天 CFD 工程师 (全球)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3,500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303520" y="40416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核能 NQA-1 团队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$200M+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303520" y="50932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可寻址年合规预算 (TAM)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大概率 2028 年才推出审计包。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那一年，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我们应该已经拿下了类目命名权。</a:t>
            </a:r>
            <a:endParaRPr lang="en-US" sz="3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我要的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ask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56032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audit-first AI-CFD 写进类目战略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56032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个月资源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4754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工程师 + 0.4 法规 + 1 BD · ¥320-440 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5303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560320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末再 review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5806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 GA + 第 1 位 stranger Pilot 启动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个月预算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¥ 320–440 万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 (2 工程师 + 0.4 法规)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¥ 240–320 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3840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/ 算力基础设施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¥  30–50 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4480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 / 合规咨询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¥  20–40 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5120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 / Pilot 触达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¥  20–30 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0" y="5852160"/>
            <a:ext cx="914400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ROI: 1 个签约客户 = 1 年回本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C8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仿真行业的下一场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胜利不属于跑得最快的人，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C8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而属于敢被信任的那一个。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0" y="5394960"/>
            <a:ext cx="1188720" cy="36576"/>
          </a:xfrm>
          <a:prstGeom prst="rect">
            <a:avLst/>
          </a:prstGeom>
          <a:solidFill>
            <a:srgbClr val="C8A961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cfd-harness-unified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我们已经在跑。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现在请把它放大。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Yagami  ·  2026.05  ·  汇报完毕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cfd-harness-unified · TED</dc:title>
  <dc:subject>PptxGenJS Presentation</dc:subject>
  <dc:creator>Yagami</dc:creator>
  <cp:lastModifiedBy>Yagami</cp:lastModifiedBy>
  <cp:revision>1</cp:revision>
  <dcterms:created xsi:type="dcterms:W3CDTF">2026-05-10T09:13:49Z</dcterms:created>
  <dcterms:modified xsi:type="dcterms:W3CDTF">2026-05-10T09:13:49Z</dcterms:modified>
</cp:coreProperties>
</file>